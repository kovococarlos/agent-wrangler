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talk about what happens when AI agents—not just chatbots, but autonomous agents—start knocking on the door of your SQL Server instances. This is a practical talk. No hype. We'll cover what agents are, how they connect to SQL Server, what guardrails you need, and how your role as a DBA is evolving. Everything I show today assumes on-prem or regulated environments where compliance isn't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next 50 minutes. We start with definitions—making sure everyone is on the same page about what AI agents actually are. Then we get into the architecture of how agents talk to SQL Server, followed by a live demo. The middle section is all compliance—10 full minutes because this is the part that matters most in regulated shops. Then we talk about how the DBA role is changing, and we close with some concrete tools you can start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The term 'AI agent' gets thrown around a lot, and it's important to be precise about what we mean—especially when we're talking about giving something access to production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distinction. A chatbot is reactive: you ask a question, it generates text, done. An AI agent is goal-directed: you state an objective, and the agent plans steps, calls tools, evaluates results, and loops until the goal is met. Critically, agents take actions in the real world—they execute queries, modify data, call APIs. That's a fundamentally different risk profile than a chatbot that just generates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define an agent. First, reasoning—it doesn't just pattern-match, it plans. Second, tool use—this is the big one for us. Third, memory—it keeps track of what it's done. Fourth, observation—it reads results and decides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get into the architecture. How does an AI agent actually talk to SQL Server? This is where the Model Context Protocol—MCP—comes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makes a natural language request. The AI agent parses intent, checks guardrails, generates SQL, and logs every action. Between the agent and SQL Server sits the MCP protocol layer. On the SQL Server side, you use all your existing security: least-privilege logins, RLS, auditing, stored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stands for Model Context Protocol. It's an open standard—not vendor-locked. MCP defines exactly which tools an agent can call, what parameters it can pass, and what permissions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for agent access. Read-Only Explorer is your starting point. Stored Proc Executor is strongest control. Supervised Write requires DBA approval. Start read-only and earn your way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Server 2025 adds native vector search, REST endpoint invocation, better JSON, and improved auditing—all directly relevant to AI agent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a demo. Before switching to VS Code, remind the audience what they're about to see.
--- PRE-DEMO PREPARATION (do this before the talk) ---
1. CLONE THE REPO:
   git clone https://github.com/Azure-Samples/SQL-AI-samples.git
   cd SQL-AI-samples/MssqlMcp/Node
   npm install
   (this builds the TypeScript to dist/index.js automatically)
2. VERIFY SQL SERVER IS RUNNING:
   - SQL Server 2025 Developer Edition, local instance
   - AdventureWorks database restored
   - SQL Server Audit configured (see companion site for script)
3. CREATE TWO SQL LOGINS:
   a) AgentFullAccess — db_owner on AdventureWorks (for the 'scary' demo)
   b) AgentReadOnly — db_datareader on Sales and Production schemas only
4. CONFIGURE VS CODE:
   - GitHub Copilot Chat extension installed
   - Two MCP configs saved (switch between them during demo)
   - Settings &gt; MCP Servers should show 'MSSQL MCP'
5. TEST EVERYTHING:
   - Start MCP server, type 'List tables in the database'
   - Verify it returns AdventureWorks tables
   - Kill and restart to clear state before going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SETUP SLIDE — Walk through this verbally, then switch to VS Code.
--- WHAT TO SAY ---
We're using the MssqlMcp server from Microsoft's Azure-Samples/SQL-AI-samples repo. It's a .NET and Node.js MCP server that exposes 7 tools: ListTables, DescribeTable, CreateTable, DropTable, InsertData, ReadData, and UpdateData. Out of the box, it gives the agent full CRUD access — which is exactly the problem we're going to solve.
--- VS CODE CONFIG (already saved, show it briefly) ---
Open VS Code Settings (Ctrl+Shift+P &gt; 'Open Settings JSON') and show:
{
  "mcp": {
    "servers": {
      "MSSQL MCP": {
        "type": "stdio",
        "command": "node",
        "args": ["C:\\src\\SQL-AI-samples\\MssqlMcp\\Node\\dist\\index.js"],
        "env": {
          "SERVER_NAME": "localhost",
          "DATABASE_NAME": "AdventureWorks",
          "TRUST_SERVER_CERTIFICATE": "true"
        }
      }
    }
  }
}
Point out: the connection uses local auth, targets AdventureWorks, and the MCP server is self-hosted — no cloud calls.
--- THEN ---
Click 'Start' next to the MCP server entry. Show the 'Running' status. Open Agent Mode chat (Ctrl+Shift+I). Click the Tools icon and show the 7 MSSQL MCP tools listed. Say: 'Notice it has ListTables, ReadData, but also CreateTable and DropTable. That's what we'll lock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PART 1: THE HAPPY PATH — Read-only query succeeds.
--- LIVE STEPS IN VS CODE ---
1. In Agent Mode chat, type exactly:
   'Show me the top 5 products by total revenue this quarter from AdventureWorks'
2. WATCH THE AGENT WORK (narrate each step for the audience):
   - Agent calls ListTables to discover the schema
   - Agent calls DescribeTable on Sales.SalesOrderDetail
   - Agent calls DescribeTable on Production.Product
   - Agent calls ReadData with a SELECT query joining the tables
   - Point out: each tool call shows in the chat with parameters
3. SHOW THE RESULT:
   - Agent returns a formatted table of top 5 products
   - Say: 'The agent discovered the schema, planned the join, executed a SELECT, and returned results. All read-only. All through MCP tools.'
4. SHOW THE AUDIT (switch to SSMS or Azure Data Studio):
   - Run the audit query from the companion site:
     SELECT event_time, action_id, statement, server_principal_name
     FROM sys.fn_get_audit_file('C:\AuditLogs\Agent\*.sqlaudit', NULL, NULL)
     WHERE server_principal_name = 'AgentServiceAccount'
     ORDER BY event_time DESC;
   - Point out the SELECT statements logged with timestamps
--- IF SOMETHING GOES WRONG ---
- If agent times out: 'This is live — sometimes the LLM takes a moment to plan.'
- If wrong result: 'Notice it gave us slightly different results — the LLM isn't deterministic, which is exactly why we need guardrails, not just good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PART 2: THE GUARDRAIL IN ACTION — Write attempt gets blocked.
--- OPTION A: USING SQL SERVER PERMISSIONS (recommended, most reliable) ---
1. BEFORE THIS STEP: Switch the MCP server connection to use the AgentReadOnly login.
   - Stop the MCP server in VS Code
   - Change the connection string env var to use the read-only service account
   - Restart the MCP server
   - Say: 'I've now switched to our least-privilege service account that only has db_datareader.'
2. In Agent Mode chat, type:
   'Update the list price of ProductID 680 to $49.99 in the Production.Product table'
3. WATCH IT FAIL (narrate for audience):
   - Agent calls DescribeTable on Production.Product (succeeds)
   - Agent attempts UpdateData or InsertData tool
   - SQL Server returns permission denied error
   - Agent reports: 'I don't have permission to modify this data'
   - Say: 'The MCP server passed the request through, but SQL Server denied it. Defense in depth — even if the MCP layer didn't catch it, the database did.'
4. SHOW THE AUDIT:
   - Run the same audit query — show the FAILED action logged
   - Point out the action_id shows it was an UPDATE attempt that was denied
--- OPTION B: USING MCP READONLY FLAG (simpler but less dramatic) ---
- Set READONLY=true in the MCP server env config
- The MCP server itself will refuse to expose write tools
- Show that the Tools list in VS Code now only shows ListTables, DescribeTable, ReadData
- Say: 'With READONLY mode, the agent never even sees the write tools.'
--- KEY TALKING POINT ---
Say: 'Two layers stopped this. The MCP server can filter tools, and SQL Server enforced permissions. Neither alone is sufficient — together they're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WRAPUP — Switch back from VS Code to slides.
--- WHAT TO SAY ---
Walk through each takeaway on the slide:
1. 'The agent's access was constrained by the MCP tool definitions and SQL Server permissions — not by the LLM's own judgment about what it should or shouldn't do. The LLM wanted to run that UPDATE. The infrastructure said no.'
2. 'We didn't install any new security product. RLS, audit, permissions — all standard SQL Server features that have been there for years. They work against agents the same way they work against any other client.'
3. 'Write operations required explicit policy — a service account with only db_datareader. The agent's intent to write was irrelevant; the permissions said read-only.'
4. 'Every single action — the successful SELECTs and the failed UPDATE — showed up in SQL Server Audit. Complete forensic trail.'
5. 'Important caveat: the LLM can still generate queries that are syntactically valid but semantically wrong. It might join on the wrong column or misunderstand a date range. Guardrails prevent unauthorized actions, but you still need to validate the results make business sense.'
--- TRANSITION ---
Say: 'Now let's formalize what we just saw into a compliance framework. If your auditor asks how you're securing agent access, this next section gives you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that matters most for anyone in a regulated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Network &amp; Identity → MCP Protocol → SQL Server Security → Application Logic. Each layer assumes the one above might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HIPAA, SOX, GDPR, PCI-DSS—each has specific requirements for AI agent access. SQL Server already has tooling for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to log: agent identity, original request, exact SQL, row counts, blocked actions, and execution duration. Spans MCP logs, app logs, and SQL Server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don't replace DBAs—they change what DBAs do. And the new responsibilities are more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DBA vs Agent-Era DBA side by side. You're not losing skills—you're adding agent policy design, MCP tool scoping, prompt injection awareness, and automated change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skills: MCP fluency, prompt injection awareness, agent observability, and policy-as-code. All learnable, all build on existing security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with concrete tools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Changed That?' provides schema diff tracking, agent attribution, real-time alerting, and compliance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Check does permission audit, configuration check, and threat simulation. Run before going live and regularly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remember: agents take actions, MCP is your control surface, start read-only, existing security works, DBA role gets more valuable.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AI agents are coming to your SQL Server instances whether you're ready or not. The DBA who understands agent architecture, guardrails, and compliance becomes the most valuable person on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sp>
        <p:nvSpPr>
          <p:cNvPr id="3" name="Text 1"/>
          <p:cNvSpPr/>
          <p:nvPr/>
        </p:nvSpPr>
        <p:spPr>
          <a:xfrm>
            <a:off x="731520" y="914400"/>
            <a:ext cx="7680960" cy="2011680"/>
          </a:xfrm>
          <a:prstGeom prst="rect">
            <a:avLst/>
          </a:prstGeom>
          <a:noFill/>
          <a:ln/>
        </p:spPr>
        <p:txBody>
          <a:bodyPr wrap="square" rtlCol="0" anchor="ctr"/>
          <a:lstStyle/>
          <a:p>
            <a:pPr indent="0" marL="0">
              <a:lnSpc>
                <a:spcPct val="110000"/>
              </a:lnSpc>
              <a:buNone/>
            </a:pPr>
            <a:r>
              <a:rPr lang="en-US" sz="4400" b="1" dirty="0">
                <a:solidFill>
                  <a:srgbClr val="FFFFFF"/>
                </a:solidFill>
                <a:latin typeface="Inter" pitchFamily="34" charset="0"/>
                <a:ea typeface="Inter" pitchFamily="34" charset="-122"/>
                <a:cs typeface="Inter" pitchFamily="34" charset="-120"/>
              </a:rPr>
              <a:t>From DBA to</a:t>
            </a:r>
            <a:endParaRPr lang="en-US" sz="4400" dirty="0"/>
          </a:p>
          <a:p>
            <a:pPr indent="0" marL="0">
              <a:lnSpc>
                <a:spcPct val="110000"/>
              </a:lnSpc>
              <a:buNone/>
            </a:pPr>
            <a:r>
              <a:rPr lang="en-US" sz="4400" b="1" dirty="0">
                <a:solidFill>
                  <a:srgbClr val="FFFFFF"/>
                </a:solidFill>
                <a:latin typeface="Inter" pitchFamily="34" charset="0"/>
                <a:ea typeface="Inter" pitchFamily="34" charset="-122"/>
                <a:cs typeface="Inter" pitchFamily="34" charset="-120"/>
              </a:rPr>
              <a:t>AI Agent Wrangler</a:t>
            </a:r>
            <a:endParaRPr lang="en-US" sz="4400" dirty="0"/>
          </a:p>
        </p:txBody>
      </p:sp>
      <p:sp>
        <p:nvSpPr>
          <p:cNvPr id="4" name="Text 2"/>
          <p:cNvSpPr/>
          <p:nvPr/>
        </p:nvSpPr>
        <p:spPr>
          <a:xfrm>
            <a:off x="731520" y="2926080"/>
            <a:ext cx="7680960" cy="548640"/>
          </a:xfrm>
          <a:prstGeom prst="rect">
            <a:avLst/>
          </a:prstGeom>
          <a:noFill/>
          <a:ln/>
        </p:spPr>
        <p:txBody>
          <a:bodyPr wrap="square" rtlCol="0" anchor="ctr"/>
          <a:lstStyle/>
          <a:p>
            <a:pPr indent="0" marL="0">
              <a:buNone/>
            </a:pPr>
            <a:r>
              <a:rPr lang="en-US" sz="2200" dirty="0">
                <a:solidFill>
                  <a:srgbClr val="3D8ADE"/>
                </a:solidFill>
                <a:latin typeface="Nunito Sans" pitchFamily="34" charset="0"/>
                <a:ea typeface="Nunito Sans" pitchFamily="34" charset="-122"/>
                <a:cs typeface="Nunito Sans" pitchFamily="34" charset="-120"/>
              </a:rPr>
              <a:t>Bringing Safe, Compliant AI Agents to SQL Server</a:t>
            </a:r>
            <a:endParaRPr lang="en-US" sz="2200" dirty="0"/>
          </a:p>
        </p:txBody>
      </p:sp>
      <p:sp>
        <p:nvSpPr>
          <p:cNvPr id="5" name="Shape 3"/>
          <p:cNvSpPr/>
          <p:nvPr/>
        </p:nvSpPr>
        <p:spPr>
          <a:xfrm>
            <a:off x="731520" y="3611880"/>
            <a:ext cx="1371600" cy="36576"/>
          </a:xfrm>
          <a:prstGeom prst="rect">
            <a:avLst/>
          </a:prstGeom>
          <a:solidFill>
            <a:srgbClr val="E85D24"/>
          </a:solidFill>
          <a:ln/>
        </p:spPr>
      </p:sp>
      <p:sp>
        <p:nvSpPr>
          <p:cNvPr id="6" name="Text 4"/>
          <p:cNvSpPr/>
          <p:nvPr/>
        </p:nvSpPr>
        <p:spPr>
          <a:xfrm>
            <a:off x="731520" y="3794760"/>
            <a:ext cx="7680960" cy="457200"/>
          </a:xfrm>
          <a:prstGeom prst="rect">
            <a:avLst/>
          </a:prstGeom>
          <a:noFill/>
          <a:ln/>
        </p:spPr>
        <p:txBody>
          <a:bodyPr wrap="square" rtlCol="0" anchor="ctr"/>
          <a:lstStyle/>
          <a:p>
            <a:pPr indent="0" marL="0">
              <a:buNone/>
            </a:pPr>
            <a:r>
              <a:rPr lang="en-US" sz="1400" dirty="0">
                <a:solidFill>
                  <a:srgbClr val="C8D6E5"/>
                </a:solidFill>
                <a:latin typeface="Nunito Sans" pitchFamily="34" charset="0"/>
                <a:ea typeface="Nunito Sans" pitchFamily="34" charset="-122"/>
                <a:cs typeface="Nunito Sans" pitchFamily="34" charset="-120"/>
              </a:rPr>
              <a:t>A practical guide for DBAs in regulated, on-prem environments</a:t>
            </a:r>
            <a:endParaRPr lang="en-US" sz="1400" dirty="0"/>
          </a:p>
        </p:txBody>
      </p:sp>
      <p:pic>
        <p:nvPicPr>
          <p:cNvPr id="7" name="Image 0" descr="preencoded.png">    </p:cNvPr>
          <p:cNvPicPr>
            <a:picLocks noChangeAspect="1"/>
          </p:cNvPicPr>
          <p:nvPr/>
        </p:nvPicPr>
        <p:blipFill>
          <a:blip r:embed="rId1"/>
          <a:stretch>
            <a:fillRect/>
          </a:stretch>
        </p:blipFill>
        <p:spPr>
          <a:xfrm>
            <a:off x="7772400" y="1188720"/>
            <a:ext cx="731520" cy="731520"/>
          </a:xfrm>
          <a:prstGeom prst="rect">
            <a:avLst/>
          </a:prstGeom>
        </p:spPr>
      </p:pic>
      <p:pic>
        <p:nvPicPr>
          <p:cNvPr id="8" name="Image 1" descr="preencoded.png">    </p:cNvPr>
          <p:cNvPicPr>
            <a:picLocks noChangeAspect="1"/>
          </p:cNvPicPr>
          <p:nvPr/>
        </p:nvPicPr>
        <p:blipFill>
          <a:blip r:embed="rId2"/>
          <a:stretch>
            <a:fillRect/>
          </a:stretch>
        </p:blipFill>
        <p:spPr>
          <a:xfrm>
            <a:off x="7772400" y="2103120"/>
            <a:ext cx="731520" cy="731520"/>
          </a:xfrm>
          <a:prstGeom prst="rect">
            <a:avLst/>
          </a:prstGeom>
        </p:spPr>
      </p:pic>
      <p:sp>
        <p:nvSpPr>
          <p:cNvPr id="9" name="Text 5"/>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 / 27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Overview</a:t>
            </a:r>
            <a:endParaRPr lang="en-US" sz="1000" dirty="0"/>
          </a:p>
        </p:txBody>
      </p:sp>
      <p:sp>
        <p:nvSpPr>
          <p:cNvPr id="4" name="Text 2"/>
          <p:cNvSpPr/>
          <p:nvPr/>
        </p:nvSpPr>
        <p:spPr>
          <a:xfrm>
            <a:off x="548640" y="274320"/>
            <a:ext cx="4572000" cy="640080"/>
          </a:xfrm>
          <a:prstGeom prst="rect">
            <a:avLst/>
          </a:prstGeom>
          <a:noFill/>
          <a:ln/>
        </p:spPr>
        <p:txBody>
          <a:bodyPr wrap="square" lIns="0" tIns="0" rIns="0" bIns="0" rtlCol="0" anchor="ctr"/>
          <a:lstStyle/>
          <a:p>
            <a:pPr indent="0" marL="0">
              <a:buNone/>
            </a:pPr>
            <a:r>
              <a:rPr lang="en-US" sz="3200" b="1" dirty="0">
                <a:solidFill>
                  <a:srgbClr val="0D2B4E"/>
                </a:solidFill>
                <a:latin typeface="Inter" pitchFamily="34" charset="0"/>
                <a:ea typeface="Inter" pitchFamily="34" charset="-122"/>
                <a:cs typeface="Inter" pitchFamily="34" charset="-120"/>
              </a:rPr>
              <a:t>Agenda — 50 Minutes</a:t>
            </a:r>
            <a:endParaRPr lang="en-US" sz="3200" dirty="0"/>
          </a:p>
        </p:txBody>
      </p:sp>
      <p:sp>
        <p:nvSpPr>
          <p:cNvPr id="5" name="Shape 3"/>
          <p:cNvSpPr/>
          <p:nvPr/>
        </p:nvSpPr>
        <p:spPr>
          <a:xfrm>
            <a:off x="548640" y="1051560"/>
            <a:ext cx="8046720" cy="53035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51560"/>
            <a:ext cx="530352" cy="530352"/>
          </a:xfrm>
          <a:prstGeom prst="rect">
            <a:avLst/>
          </a:prstGeom>
          <a:solidFill>
            <a:srgbClr val="146BCD"/>
          </a:solidFill>
          <a:ln/>
        </p:spPr>
      </p:sp>
      <p:sp>
        <p:nvSpPr>
          <p:cNvPr id="7" name="Text 5"/>
          <p:cNvSpPr/>
          <p:nvPr/>
        </p:nvSpPr>
        <p:spPr>
          <a:xfrm>
            <a:off x="548640" y="1051560"/>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1</a:t>
            </a:r>
            <a:endParaRPr lang="en-US" sz="1800" dirty="0"/>
          </a:p>
        </p:txBody>
      </p:sp>
      <p:sp>
        <p:nvSpPr>
          <p:cNvPr id="8" name="Text 6"/>
          <p:cNvSpPr/>
          <p:nvPr/>
        </p:nvSpPr>
        <p:spPr>
          <a:xfrm>
            <a:off x="1280160" y="1051560"/>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What Are AI Agents?</a:t>
            </a:r>
            <a:endParaRPr lang="en-US" sz="1600" dirty="0"/>
          </a:p>
        </p:txBody>
      </p:sp>
      <p:sp>
        <p:nvSpPr>
          <p:cNvPr id="9" name="Text 7"/>
          <p:cNvSpPr/>
          <p:nvPr/>
        </p:nvSpPr>
        <p:spPr>
          <a:xfrm>
            <a:off x="4754880" y="1051560"/>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Chatbots vs agents, key differences</a:t>
            </a:r>
            <a:endParaRPr lang="en-US" sz="1300" dirty="0"/>
          </a:p>
        </p:txBody>
      </p:sp>
      <p:sp>
        <p:nvSpPr>
          <p:cNvPr id="10" name="Text 8"/>
          <p:cNvSpPr/>
          <p:nvPr/>
        </p:nvSpPr>
        <p:spPr>
          <a:xfrm>
            <a:off x="7589520" y="1051560"/>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5 min</a:t>
            </a:r>
            <a:endParaRPr lang="en-US" sz="1300" dirty="0"/>
          </a:p>
        </p:txBody>
      </p:sp>
      <p:sp>
        <p:nvSpPr>
          <p:cNvPr id="11" name="Shape 9"/>
          <p:cNvSpPr/>
          <p:nvPr/>
        </p:nvSpPr>
        <p:spPr>
          <a:xfrm>
            <a:off x="548640" y="1673352"/>
            <a:ext cx="8046720" cy="530352"/>
          </a:xfrm>
          <a:prstGeom prst="rect">
            <a:avLst/>
          </a:prstGeom>
          <a:solidFill>
            <a:srgbClr val="F4F6FA"/>
          </a:solidFill>
          <a:ln/>
        </p:spPr>
      </p:sp>
      <p:sp>
        <p:nvSpPr>
          <p:cNvPr id="12" name="Shape 10"/>
          <p:cNvSpPr/>
          <p:nvPr/>
        </p:nvSpPr>
        <p:spPr>
          <a:xfrm>
            <a:off x="548640" y="1673352"/>
            <a:ext cx="530352" cy="530352"/>
          </a:xfrm>
          <a:prstGeom prst="rect">
            <a:avLst/>
          </a:prstGeom>
          <a:solidFill>
            <a:srgbClr val="146BCD"/>
          </a:solidFill>
          <a:ln/>
        </p:spPr>
      </p:sp>
      <p:sp>
        <p:nvSpPr>
          <p:cNvPr id="13" name="Text 11"/>
          <p:cNvSpPr/>
          <p:nvPr/>
        </p:nvSpPr>
        <p:spPr>
          <a:xfrm>
            <a:off x="548640" y="1673352"/>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2</a:t>
            </a:r>
            <a:endParaRPr lang="en-US" sz="1800" dirty="0"/>
          </a:p>
        </p:txBody>
      </p:sp>
      <p:sp>
        <p:nvSpPr>
          <p:cNvPr id="14" name="Text 12"/>
          <p:cNvSpPr/>
          <p:nvPr/>
        </p:nvSpPr>
        <p:spPr>
          <a:xfrm>
            <a:off x="1280160" y="1673352"/>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Agents + SQL Server</a:t>
            </a:r>
            <a:endParaRPr lang="en-US" sz="1600" dirty="0"/>
          </a:p>
        </p:txBody>
      </p:sp>
      <p:sp>
        <p:nvSpPr>
          <p:cNvPr id="15" name="Text 13"/>
          <p:cNvSpPr/>
          <p:nvPr/>
        </p:nvSpPr>
        <p:spPr>
          <a:xfrm>
            <a:off x="4754880" y="1673352"/>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Architecture, MCP protocol, connection patterns</a:t>
            </a:r>
            <a:endParaRPr lang="en-US" sz="1300" dirty="0"/>
          </a:p>
        </p:txBody>
      </p:sp>
      <p:sp>
        <p:nvSpPr>
          <p:cNvPr id="16" name="Text 14"/>
          <p:cNvSpPr/>
          <p:nvPr/>
        </p:nvSpPr>
        <p:spPr>
          <a:xfrm>
            <a:off x="7589520" y="1673352"/>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10 min</a:t>
            </a:r>
            <a:endParaRPr lang="en-US" sz="1300" dirty="0"/>
          </a:p>
        </p:txBody>
      </p:sp>
      <p:sp>
        <p:nvSpPr>
          <p:cNvPr id="17" name="Shape 15"/>
          <p:cNvSpPr/>
          <p:nvPr/>
        </p:nvSpPr>
        <p:spPr>
          <a:xfrm>
            <a:off x="548640" y="2295144"/>
            <a:ext cx="8046720" cy="53035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548640" y="2295144"/>
            <a:ext cx="530352" cy="530352"/>
          </a:xfrm>
          <a:prstGeom prst="rect">
            <a:avLst/>
          </a:prstGeom>
          <a:solidFill>
            <a:srgbClr val="146BCD"/>
          </a:solidFill>
          <a:ln/>
        </p:spPr>
      </p:sp>
      <p:sp>
        <p:nvSpPr>
          <p:cNvPr id="19" name="Text 17"/>
          <p:cNvSpPr/>
          <p:nvPr/>
        </p:nvSpPr>
        <p:spPr>
          <a:xfrm>
            <a:off x="548640" y="2295144"/>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3</a:t>
            </a:r>
            <a:endParaRPr lang="en-US" sz="1800" dirty="0"/>
          </a:p>
        </p:txBody>
      </p:sp>
      <p:sp>
        <p:nvSpPr>
          <p:cNvPr id="20" name="Text 18"/>
          <p:cNvSpPr/>
          <p:nvPr/>
        </p:nvSpPr>
        <p:spPr>
          <a:xfrm>
            <a:off x="1280160" y="2295144"/>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Demo</a:t>
            </a:r>
            <a:endParaRPr lang="en-US" sz="1600" dirty="0"/>
          </a:p>
        </p:txBody>
      </p:sp>
      <p:sp>
        <p:nvSpPr>
          <p:cNvPr id="21" name="Text 19"/>
          <p:cNvSpPr/>
          <p:nvPr/>
        </p:nvSpPr>
        <p:spPr>
          <a:xfrm>
            <a:off x="4754880" y="2295144"/>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MCP agent querying SQL Server with guardrails</a:t>
            </a:r>
            <a:endParaRPr lang="en-US" sz="1300" dirty="0"/>
          </a:p>
        </p:txBody>
      </p:sp>
      <p:sp>
        <p:nvSpPr>
          <p:cNvPr id="22" name="Text 20"/>
          <p:cNvSpPr/>
          <p:nvPr/>
        </p:nvSpPr>
        <p:spPr>
          <a:xfrm>
            <a:off x="7589520" y="2295144"/>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10 min</a:t>
            </a:r>
            <a:endParaRPr lang="en-US" sz="1300" dirty="0"/>
          </a:p>
        </p:txBody>
      </p:sp>
      <p:sp>
        <p:nvSpPr>
          <p:cNvPr id="23" name="Shape 21"/>
          <p:cNvSpPr/>
          <p:nvPr/>
        </p:nvSpPr>
        <p:spPr>
          <a:xfrm>
            <a:off x="548640" y="2916936"/>
            <a:ext cx="8046720" cy="530352"/>
          </a:xfrm>
          <a:prstGeom prst="rect">
            <a:avLst/>
          </a:prstGeom>
          <a:solidFill>
            <a:srgbClr val="F4F6FA"/>
          </a:solidFill>
          <a:ln/>
        </p:spPr>
      </p:sp>
      <p:sp>
        <p:nvSpPr>
          <p:cNvPr id="24" name="Shape 22"/>
          <p:cNvSpPr/>
          <p:nvPr/>
        </p:nvSpPr>
        <p:spPr>
          <a:xfrm>
            <a:off x="548640" y="2916936"/>
            <a:ext cx="530352" cy="530352"/>
          </a:xfrm>
          <a:prstGeom prst="rect">
            <a:avLst/>
          </a:prstGeom>
          <a:solidFill>
            <a:srgbClr val="146BCD"/>
          </a:solidFill>
          <a:ln/>
        </p:spPr>
      </p:sp>
      <p:sp>
        <p:nvSpPr>
          <p:cNvPr id="25" name="Text 23"/>
          <p:cNvSpPr/>
          <p:nvPr/>
        </p:nvSpPr>
        <p:spPr>
          <a:xfrm>
            <a:off x="548640" y="2916936"/>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4</a:t>
            </a:r>
            <a:endParaRPr lang="en-US" sz="1800" dirty="0"/>
          </a:p>
        </p:txBody>
      </p:sp>
      <p:sp>
        <p:nvSpPr>
          <p:cNvPr id="26" name="Text 24"/>
          <p:cNvSpPr/>
          <p:nvPr/>
        </p:nvSpPr>
        <p:spPr>
          <a:xfrm>
            <a:off x="1280160" y="2916936"/>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Compliance &amp; Guardrails</a:t>
            </a:r>
            <a:endParaRPr lang="en-US" sz="1600" dirty="0"/>
          </a:p>
        </p:txBody>
      </p:sp>
      <p:sp>
        <p:nvSpPr>
          <p:cNvPr id="27" name="Text 25"/>
          <p:cNvSpPr/>
          <p:nvPr/>
        </p:nvSpPr>
        <p:spPr>
          <a:xfrm>
            <a:off x="4754880" y="2916936"/>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Audit, security, regulatory requirements</a:t>
            </a:r>
            <a:endParaRPr lang="en-US" sz="1300" dirty="0"/>
          </a:p>
        </p:txBody>
      </p:sp>
      <p:sp>
        <p:nvSpPr>
          <p:cNvPr id="28" name="Text 26"/>
          <p:cNvSpPr/>
          <p:nvPr/>
        </p:nvSpPr>
        <p:spPr>
          <a:xfrm>
            <a:off x="7589520" y="2916936"/>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10 min</a:t>
            </a:r>
            <a:endParaRPr lang="en-US" sz="1300" dirty="0"/>
          </a:p>
        </p:txBody>
      </p:sp>
      <p:sp>
        <p:nvSpPr>
          <p:cNvPr id="29" name="Shape 27"/>
          <p:cNvSpPr/>
          <p:nvPr/>
        </p:nvSpPr>
        <p:spPr>
          <a:xfrm>
            <a:off x="548640" y="3538728"/>
            <a:ext cx="8046720" cy="530352"/>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0" name="Shape 28"/>
          <p:cNvSpPr/>
          <p:nvPr/>
        </p:nvSpPr>
        <p:spPr>
          <a:xfrm>
            <a:off x="548640" y="3538728"/>
            <a:ext cx="530352" cy="530352"/>
          </a:xfrm>
          <a:prstGeom prst="rect">
            <a:avLst/>
          </a:prstGeom>
          <a:solidFill>
            <a:srgbClr val="146BCD"/>
          </a:solidFill>
          <a:ln/>
        </p:spPr>
      </p:sp>
      <p:sp>
        <p:nvSpPr>
          <p:cNvPr id="31" name="Text 29"/>
          <p:cNvSpPr/>
          <p:nvPr/>
        </p:nvSpPr>
        <p:spPr>
          <a:xfrm>
            <a:off x="548640" y="3538728"/>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5</a:t>
            </a:r>
            <a:endParaRPr lang="en-US" sz="1800" dirty="0"/>
          </a:p>
        </p:txBody>
      </p:sp>
      <p:sp>
        <p:nvSpPr>
          <p:cNvPr id="32" name="Text 30"/>
          <p:cNvSpPr/>
          <p:nvPr/>
        </p:nvSpPr>
        <p:spPr>
          <a:xfrm>
            <a:off x="1280160" y="3538728"/>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The DBA Role, Evolved</a:t>
            </a:r>
            <a:endParaRPr lang="en-US" sz="1600" dirty="0"/>
          </a:p>
        </p:txBody>
      </p:sp>
      <p:sp>
        <p:nvSpPr>
          <p:cNvPr id="33" name="Text 31"/>
          <p:cNvSpPr/>
          <p:nvPr/>
        </p:nvSpPr>
        <p:spPr>
          <a:xfrm>
            <a:off x="4754880" y="3538728"/>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New skills, new responsibilities</a:t>
            </a:r>
            <a:endParaRPr lang="en-US" sz="1300" dirty="0"/>
          </a:p>
        </p:txBody>
      </p:sp>
      <p:sp>
        <p:nvSpPr>
          <p:cNvPr id="34" name="Text 32"/>
          <p:cNvSpPr/>
          <p:nvPr/>
        </p:nvSpPr>
        <p:spPr>
          <a:xfrm>
            <a:off x="7589520" y="3538728"/>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8 min</a:t>
            </a:r>
            <a:endParaRPr lang="en-US" sz="1300" dirty="0"/>
          </a:p>
        </p:txBody>
      </p:sp>
      <p:sp>
        <p:nvSpPr>
          <p:cNvPr id="35" name="Shape 33"/>
          <p:cNvSpPr/>
          <p:nvPr/>
        </p:nvSpPr>
        <p:spPr>
          <a:xfrm>
            <a:off x="548640" y="4160520"/>
            <a:ext cx="8046720" cy="530352"/>
          </a:xfrm>
          <a:prstGeom prst="rect">
            <a:avLst/>
          </a:prstGeom>
          <a:solidFill>
            <a:srgbClr val="F4F6FA"/>
          </a:solidFill>
          <a:ln/>
        </p:spPr>
      </p:sp>
      <p:sp>
        <p:nvSpPr>
          <p:cNvPr id="36" name="Shape 34"/>
          <p:cNvSpPr/>
          <p:nvPr/>
        </p:nvSpPr>
        <p:spPr>
          <a:xfrm>
            <a:off x="548640" y="4160520"/>
            <a:ext cx="530352" cy="530352"/>
          </a:xfrm>
          <a:prstGeom prst="rect">
            <a:avLst/>
          </a:prstGeom>
          <a:solidFill>
            <a:srgbClr val="146BCD"/>
          </a:solidFill>
          <a:ln/>
        </p:spPr>
      </p:sp>
      <p:sp>
        <p:nvSpPr>
          <p:cNvPr id="37" name="Text 35"/>
          <p:cNvSpPr/>
          <p:nvPr/>
        </p:nvSpPr>
        <p:spPr>
          <a:xfrm>
            <a:off x="548640" y="4160520"/>
            <a:ext cx="530352" cy="530352"/>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6</a:t>
            </a:r>
            <a:endParaRPr lang="en-US" sz="1800" dirty="0"/>
          </a:p>
        </p:txBody>
      </p:sp>
      <p:sp>
        <p:nvSpPr>
          <p:cNvPr id="38" name="Text 36"/>
          <p:cNvSpPr/>
          <p:nvPr/>
        </p:nvSpPr>
        <p:spPr>
          <a:xfrm>
            <a:off x="1280160" y="4160520"/>
            <a:ext cx="3474720" cy="530352"/>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Tools &amp; Takeaways</a:t>
            </a:r>
            <a:endParaRPr lang="en-US" sz="1600" dirty="0"/>
          </a:p>
        </p:txBody>
      </p:sp>
      <p:sp>
        <p:nvSpPr>
          <p:cNvPr id="39" name="Text 37"/>
          <p:cNvSpPr/>
          <p:nvPr/>
        </p:nvSpPr>
        <p:spPr>
          <a:xfrm>
            <a:off x="4754880" y="4160520"/>
            <a:ext cx="2743200" cy="530352"/>
          </a:xfrm>
          <a:prstGeom prst="rect">
            <a:avLst/>
          </a:prstGeom>
          <a:noFill/>
          <a:ln/>
        </p:spPr>
        <p:txBody>
          <a:bodyPr wrap="square" lIns="0" tIns="0" rIns="0" bIns="0" rtlCol="0" anchor="ctr"/>
          <a:lstStyle/>
          <a:p>
            <a:pPr indent="0" marL="0">
              <a:buNone/>
            </a:pPr>
            <a:r>
              <a:rPr lang="en-US" sz="1300" dirty="0">
                <a:solidFill>
                  <a:srgbClr val="4A6080"/>
                </a:solidFill>
                <a:latin typeface="Nunito Sans" pitchFamily="34" charset="0"/>
                <a:ea typeface="Nunito Sans" pitchFamily="34" charset="-122"/>
                <a:cs typeface="Nunito Sans" pitchFamily="34" charset="-120"/>
              </a:rPr>
              <a:t>"Who Changed That?", Security Check, next steps</a:t>
            </a:r>
            <a:endParaRPr lang="en-US" sz="1300" dirty="0"/>
          </a:p>
        </p:txBody>
      </p:sp>
      <p:sp>
        <p:nvSpPr>
          <p:cNvPr id="40" name="Text 38"/>
          <p:cNvSpPr/>
          <p:nvPr/>
        </p:nvSpPr>
        <p:spPr>
          <a:xfrm>
            <a:off x="7589520" y="4160520"/>
            <a:ext cx="1005840" cy="530352"/>
          </a:xfrm>
          <a:prstGeom prst="rect">
            <a:avLst/>
          </a:prstGeom>
          <a:noFill/>
          <a:ln/>
        </p:spPr>
        <p:txBody>
          <a:bodyPr wrap="square" lIns="0" tIns="0" rIns="0" bIns="0" rtlCol="0" anchor="ctr"/>
          <a:lstStyle/>
          <a:p>
            <a:pPr algn="r" indent="0" marL="0">
              <a:buNone/>
            </a:pPr>
            <a:r>
              <a:rPr lang="en-US" sz="1300" b="1" dirty="0">
                <a:solidFill>
                  <a:srgbClr val="E85D24"/>
                </a:solidFill>
                <a:latin typeface="Nunito Sans" pitchFamily="34" charset="0"/>
                <a:ea typeface="Nunito Sans" pitchFamily="34" charset="-122"/>
                <a:cs typeface="Nunito Sans" pitchFamily="34" charset="-120"/>
              </a:rPr>
              <a:t>7 min</a:t>
            </a:r>
            <a:endParaRPr lang="en-US" sz="1300" dirty="0"/>
          </a:p>
        </p:txBody>
      </p:sp>
      <p:sp>
        <p:nvSpPr>
          <p:cNvPr id="41" name="Text 39"/>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 / 27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1</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What Are AI Agents?</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3 / 27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What Are AI Agents?</a:t>
            </a:r>
            <a:endParaRPr lang="en-US" sz="1000" dirty="0"/>
          </a:p>
        </p:txBody>
      </p:sp>
      <p:sp>
        <p:nvSpPr>
          <p:cNvPr id="4" name="Text 2"/>
          <p:cNvSpPr/>
          <p:nvPr/>
        </p:nvSpPr>
        <p:spPr>
          <a:xfrm>
            <a:off x="548640" y="228600"/>
            <a:ext cx="7315200" cy="640080"/>
          </a:xfrm>
          <a:prstGeom prst="rect">
            <a:avLst/>
          </a:prstGeom>
          <a:noFill/>
          <a:ln/>
        </p:spPr>
        <p:txBody>
          <a:bodyPr wrap="square" lIns="0" tIns="0" rIns="0" bIns="0" rtlCol="0" anchor="ctr"/>
          <a:lstStyle/>
          <a:p>
            <a:pPr indent="0" marL="0">
              <a:buNone/>
            </a:pPr>
            <a:r>
              <a:rPr lang="en-US" sz="3200" b="1" dirty="0">
                <a:solidFill>
                  <a:srgbClr val="0D2B4E"/>
                </a:solidFill>
                <a:latin typeface="Inter" pitchFamily="34" charset="0"/>
                <a:ea typeface="Inter" pitchFamily="34" charset="-122"/>
                <a:cs typeface="Inter" pitchFamily="34" charset="-120"/>
              </a:rPr>
              <a:t>Chatbot vs. AI Agent</a:t>
            </a:r>
            <a:endParaRPr lang="en-US" sz="3200" dirty="0"/>
          </a:p>
        </p:txBody>
      </p:sp>
      <p:pic>
        <p:nvPicPr>
          <p:cNvPr id="5" name="Image 0" descr="preencoded.png">    </p:cNvPr>
          <p:cNvPicPr>
            <a:picLocks noChangeAspect="1"/>
          </p:cNvPicPr>
          <p:nvPr/>
        </p:nvPicPr>
        <p:blipFill>
          <a:blip r:embed="rId1"/>
          <a:stretch>
            <a:fillRect/>
          </a:stretch>
        </p:blipFill>
        <p:spPr>
          <a:xfrm>
            <a:off x="274320" y="1005840"/>
            <a:ext cx="8595360" cy="3566160"/>
          </a:xfrm>
          <a:prstGeom prst="rect">
            <a:avLst/>
          </a:prstGeom>
        </p:spPr>
      </p:pic>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4 / 27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What Are AI Agents?</a:t>
            </a:r>
            <a:endParaRPr lang="en-US" sz="1000" dirty="0"/>
          </a:p>
        </p:txBody>
      </p:sp>
      <p:sp>
        <p:nvSpPr>
          <p:cNvPr id="4" name="Text 2"/>
          <p:cNvSpPr/>
          <p:nvPr/>
        </p:nvSpPr>
        <p:spPr>
          <a:xfrm>
            <a:off x="548640" y="228600"/>
            <a:ext cx="7315200" cy="64008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Key Properties of an AI Agent</a:t>
            </a:r>
            <a:endParaRPr lang="en-US" sz="3000" dirty="0"/>
          </a:p>
        </p:txBody>
      </p:sp>
      <p:sp>
        <p:nvSpPr>
          <p:cNvPr id="5" name="Shape 3"/>
          <p:cNvSpPr/>
          <p:nvPr/>
        </p:nvSpPr>
        <p:spPr>
          <a:xfrm>
            <a:off x="548640" y="105156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51560"/>
            <a:ext cx="64008" cy="822960"/>
          </a:xfrm>
          <a:prstGeom prst="rect">
            <a:avLst/>
          </a:prstGeom>
          <a:solidFill>
            <a:srgbClr val="146BCD"/>
          </a:solidFill>
          <a:ln/>
        </p:spPr>
      </p:sp>
      <p:pic>
        <p:nvPicPr>
          <p:cNvPr id="7" name="Image 0" descr="preencoded.png">    </p:cNvPr>
          <p:cNvPicPr>
            <a:picLocks noChangeAspect="1"/>
          </p:cNvPicPr>
          <p:nvPr/>
        </p:nvPicPr>
        <p:blipFill>
          <a:blip r:embed="rId1"/>
          <a:stretch>
            <a:fillRect/>
          </a:stretch>
        </p:blipFill>
        <p:spPr>
          <a:xfrm>
            <a:off x="822960" y="1234440"/>
            <a:ext cx="457200" cy="457200"/>
          </a:xfrm>
          <a:prstGeom prst="rect">
            <a:avLst/>
          </a:prstGeom>
        </p:spPr>
      </p:pic>
      <p:sp>
        <p:nvSpPr>
          <p:cNvPr id="8" name="Text 5"/>
          <p:cNvSpPr/>
          <p:nvPr/>
        </p:nvSpPr>
        <p:spPr>
          <a:xfrm>
            <a:off x="1463040" y="1097280"/>
            <a:ext cx="2743200" cy="411480"/>
          </a:xfrm>
          <a:prstGeom prst="rect">
            <a:avLst/>
          </a:prstGeom>
          <a:noFill/>
          <a:ln/>
        </p:spPr>
        <p:txBody>
          <a:bodyPr wrap="square" lIns="0" tIns="0" rIns="0" bIns="0" rtlCol="0" anchor="ctr"/>
          <a:lstStyle/>
          <a:p>
            <a:pPr indent="0" marL="0">
              <a:buNone/>
            </a:pPr>
            <a:r>
              <a:rPr lang="en-US" sz="1800" b="1" dirty="0">
                <a:solidFill>
                  <a:srgbClr val="0D2B4E"/>
                </a:solidFill>
                <a:latin typeface="Inter" pitchFamily="34" charset="0"/>
                <a:ea typeface="Inter" pitchFamily="34" charset="-122"/>
                <a:cs typeface="Inter" pitchFamily="34" charset="-120"/>
              </a:rPr>
              <a:t>Reasoning</a:t>
            </a:r>
            <a:endParaRPr lang="en-US" sz="1800" dirty="0"/>
          </a:p>
        </p:txBody>
      </p:sp>
      <p:sp>
        <p:nvSpPr>
          <p:cNvPr id="9" name="Text 6"/>
          <p:cNvSpPr/>
          <p:nvPr/>
        </p:nvSpPr>
        <p:spPr>
          <a:xfrm>
            <a:off x="1463040" y="1463040"/>
            <a:ext cx="6858000" cy="36576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Plans multi-step actions, not just one-shot answers</a:t>
            </a:r>
            <a:endParaRPr lang="en-US" sz="1400" dirty="0"/>
          </a:p>
        </p:txBody>
      </p:sp>
      <p:sp>
        <p:nvSpPr>
          <p:cNvPr id="10" name="Shape 7"/>
          <p:cNvSpPr/>
          <p:nvPr/>
        </p:nvSpPr>
        <p:spPr>
          <a:xfrm>
            <a:off x="548640" y="201168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548640" y="2011680"/>
            <a:ext cx="64008" cy="822960"/>
          </a:xfrm>
          <a:prstGeom prst="rect">
            <a:avLst/>
          </a:prstGeom>
          <a:solidFill>
            <a:srgbClr val="146BCD"/>
          </a:solidFill>
          <a:ln/>
        </p:spPr>
      </p:sp>
      <p:pic>
        <p:nvPicPr>
          <p:cNvPr id="12" name="Image 1" descr="preencoded.png">    </p:cNvPr>
          <p:cNvPicPr>
            <a:picLocks noChangeAspect="1"/>
          </p:cNvPicPr>
          <p:nvPr/>
        </p:nvPicPr>
        <p:blipFill>
          <a:blip r:embed="rId2"/>
          <a:stretch>
            <a:fillRect/>
          </a:stretch>
        </p:blipFill>
        <p:spPr>
          <a:xfrm>
            <a:off x="822960" y="2194560"/>
            <a:ext cx="457200" cy="457200"/>
          </a:xfrm>
          <a:prstGeom prst="rect">
            <a:avLst/>
          </a:prstGeom>
        </p:spPr>
      </p:pic>
      <p:sp>
        <p:nvSpPr>
          <p:cNvPr id="13" name="Text 9"/>
          <p:cNvSpPr/>
          <p:nvPr/>
        </p:nvSpPr>
        <p:spPr>
          <a:xfrm>
            <a:off x="1463040" y="2057400"/>
            <a:ext cx="2743200" cy="411480"/>
          </a:xfrm>
          <a:prstGeom prst="rect">
            <a:avLst/>
          </a:prstGeom>
          <a:noFill/>
          <a:ln/>
        </p:spPr>
        <p:txBody>
          <a:bodyPr wrap="square" lIns="0" tIns="0" rIns="0" bIns="0" rtlCol="0" anchor="ctr"/>
          <a:lstStyle/>
          <a:p>
            <a:pPr indent="0" marL="0">
              <a:buNone/>
            </a:pPr>
            <a:r>
              <a:rPr lang="en-US" sz="1800" b="1" dirty="0">
                <a:solidFill>
                  <a:srgbClr val="0D2B4E"/>
                </a:solidFill>
                <a:latin typeface="Inter" pitchFamily="34" charset="0"/>
                <a:ea typeface="Inter" pitchFamily="34" charset="-122"/>
                <a:cs typeface="Inter" pitchFamily="34" charset="-120"/>
              </a:rPr>
              <a:t>Tool Use</a:t>
            </a:r>
            <a:endParaRPr lang="en-US" sz="1800" dirty="0"/>
          </a:p>
        </p:txBody>
      </p:sp>
      <p:sp>
        <p:nvSpPr>
          <p:cNvPr id="14" name="Text 10"/>
          <p:cNvSpPr/>
          <p:nvPr/>
        </p:nvSpPr>
        <p:spPr>
          <a:xfrm>
            <a:off x="1463040" y="2423160"/>
            <a:ext cx="6858000" cy="36576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Calls external tools—APIs, queries, scripts—autonomously</a:t>
            </a:r>
            <a:endParaRPr lang="en-US" sz="1400" dirty="0"/>
          </a:p>
        </p:txBody>
      </p:sp>
      <p:sp>
        <p:nvSpPr>
          <p:cNvPr id="15" name="Shape 11"/>
          <p:cNvSpPr/>
          <p:nvPr/>
        </p:nvSpPr>
        <p:spPr>
          <a:xfrm>
            <a:off x="548640" y="297180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548640" y="2971800"/>
            <a:ext cx="64008" cy="822960"/>
          </a:xfrm>
          <a:prstGeom prst="rect">
            <a:avLst/>
          </a:prstGeom>
          <a:solidFill>
            <a:srgbClr val="146BCD"/>
          </a:solidFill>
          <a:ln/>
        </p:spPr>
      </p:sp>
      <p:pic>
        <p:nvPicPr>
          <p:cNvPr id="17" name="Image 2" descr="preencoded.png">    </p:cNvPr>
          <p:cNvPicPr>
            <a:picLocks noChangeAspect="1"/>
          </p:cNvPicPr>
          <p:nvPr/>
        </p:nvPicPr>
        <p:blipFill>
          <a:blip r:embed="rId3"/>
          <a:stretch>
            <a:fillRect/>
          </a:stretch>
        </p:blipFill>
        <p:spPr>
          <a:xfrm>
            <a:off x="822960" y="3154680"/>
            <a:ext cx="457200" cy="457200"/>
          </a:xfrm>
          <a:prstGeom prst="rect">
            <a:avLst/>
          </a:prstGeom>
        </p:spPr>
      </p:pic>
      <p:sp>
        <p:nvSpPr>
          <p:cNvPr id="18" name="Text 13"/>
          <p:cNvSpPr/>
          <p:nvPr/>
        </p:nvSpPr>
        <p:spPr>
          <a:xfrm>
            <a:off x="1463040" y="3017520"/>
            <a:ext cx="2743200" cy="411480"/>
          </a:xfrm>
          <a:prstGeom prst="rect">
            <a:avLst/>
          </a:prstGeom>
          <a:noFill/>
          <a:ln/>
        </p:spPr>
        <p:txBody>
          <a:bodyPr wrap="square" lIns="0" tIns="0" rIns="0" bIns="0" rtlCol="0" anchor="ctr"/>
          <a:lstStyle/>
          <a:p>
            <a:pPr indent="0" marL="0">
              <a:buNone/>
            </a:pPr>
            <a:r>
              <a:rPr lang="en-US" sz="1800" b="1" dirty="0">
                <a:solidFill>
                  <a:srgbClr val="0D2B4E"/>
                </a:solidFill>
                <a:latin typeface="Inter" pitchFamily="34" charset="0"/>
                <a:ea typeface="Inter" pitchFamily="34" charset="-122"/>
                <a:cs typeface="Inter" pitchFamily="34" charset="-120"/>
              </a:rPr>
              <a:t>Memory / State</a:t>
            </a:r>
            <a:endParaRPr lang="en-US" sz="1800" dirty="0"/>
          </a:p>
        </p:txBody>
      </p:sp>
      <p:sp>
        <p:nvSpPr>
          <p:cNvPr id="19" name="Text 14"/>
          <p:cNvSpPr/>
          <p:nvPr/>
        </p:nvSpPr>
        <p:spPr>
          <a:xfrm>
            <a:off x="1463040" y="3383280"/>
            <a:ext cx="6858000" cy="36576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Maintains context across steps; remembers what it's tried</a:t>
            </a:r>
            <a:endParaRPr lang="en-US" sz="1400" dirty="0"/>
          </a:p>
        </p:txBody>
      </p:sp>
      <p:sp>
        <p:nvSpPr>
          <p:cNvPr id="20" name="Shape 15"/>
          <p:cNvSpPr/>
          <p:nvPr/>
        </p:nvSpPr>
        <p:spPr>
          <a:xfrm>
            <a:off x="548640" y="393192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548640" y="3931920"/>
            <a:ext cx="64008" cy="822960"/>
          </a:xfrm>
          <a:prstGeom prst="rect">
            <a:avLst/>
          </a:prstGeom>
          <a:solidFill>
            <a:srgbClr val="146BCD"/>
          </a:solidFill>
          <a:ln/>
        </p:spPr>
      </p:sp>
      <p:pic>
        <p:nvPicPr>
          <p:cNvPr id="22" name="Image 3" descr="preencoded.png">    </p:cNvPr>
          <p:cNvPicPr>
            <a:picLocks noChangeAspect="1"/>
          </p:cNvPicPr>
          <p:nvPr/>
        </p:nvPicPr>
        <p:blipFill>
          <a:blip r:embed="rId4"/>
          <a:stretch>
            <a:fillRect/>
          </a:stretch>
        </p:blipFill>
        <p:spPr>
          <a:xfrm>
            <a:off x="822960" y="4114800"/>
            <a:ext cx="457200" cy="457200"/>
          </a:xfrm>
          <a:prstGeom prst="rect">
            <a:avLst/>
          </a:prstGeom>
        </p:spPr>
      </p:pic>
      <p:sp>
        <p:nvSpPr>
          <p:cNvPr id="23" name="Text 17"/>
          <p:cNvSpPr/>
          <p:nvPr/>
        </p:nvSpPr>
        <p:spPr>
          <a:xfrm>
            <a:off x="1463040" y="3977640"/>
            <a:ext cx="2743200" cy="411480"/>
          </a:xfrm>
          <a:prstGeom prst="rect">
            <a:avLst/>
          </a:prstGeom>
          <a:noFill/>
          <a:ln/>
        </p:spPr>
        <p:txBody>
          <a:bodyPr wrap="square" lIns="0" tIns="0" rIns="0" bIns="0" rtlCol="0" anchor="ctr"/>
          <a:lstStyle/>
          <a:p>
            <a:pPr indent="0" marL="0">
              <a:buNone/>
            </a:pPr>
            <a:r>
              <a:rPr lang="en-US" sz="1800" b="1" dirty="0">
                <a:solidFill>
                  <a:srgbClr val="0D2B4E"/>
                </a:solidFill>
                <a:latin typeface="Inter" pitchFamily="34" charset="0"/>
                <a:ea typeface="Inter" pitchFamily="34" charset="-122"/>
                <a:cs typeface="Inter" pitchFamily="34" charset="-120"/>
              </a:rPr>
              <a:t>Observation</a:t>
            </a:r>
            <a:endParaRPr lang="en-US" sz="1800" dirty="0"/>
          </a:p>
        </p:txBody>
      </p:sp>
      <p:sp>
        <p:nvSpPr>
          <p:cNvPr id="24" name="Text 18"/>
          <p:cNvSpPr/>
          <p:nvPr/>
        </p:nvSpPr>
        <p:spPr>
          <a:xfrm>
            <a:off x="1463040" y="4343400"/>
            <a:ext cx="6858000" cy="36576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Reads tool outputs, evaluates success, adapts plan</a:t>
            </a:r>
            <a:endParaRPr lang="en-US" sz="1400" dirty="0"/>
          </a:p>
        </p:txBody>
      </p:sp>
      <p:sp>
        <p:nvSpPr>
          <p:cNvPr id="25" name="Text 19"/>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5 / 27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2</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Agents + SQL Server</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6 / 27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Agents + SQL Server</a:t>
            </a:r>
            <a:endParaRPr lang="en-US" sz="1000" dirty="0"/>
          </a:p>
        </p:txBody>
      </p:sp>
      <p:sp>
        <p:nvSpPr>
          <p:cNvPr id="4" name="Text 2"/>
          <p:cNvSpPr/>
          <p:nvPr/>
        </p:nvSpPr>
        <p:spPr>
          <a:xfrm>
            <a:off x="548640" y="182880"/>
            <a:ext cx="73152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Agent-to-SQL Server Architecture</a:t>
            </a:r>
            <a:endParaRPr lang="en-US" sz="3000" dirty="0"/>
          </a:p>
        </p:txBody>
      </p:sp>
      <p:pic>
        <p:nvPicPr>
          <p:cNvPr id="5" name="Image 0" descr="preencoded.png">    </p:cNvPr>
          <p:cNvPicPr>
            <a:picLocks noChangeAspect="1"/>
          </p:cNvPicPr>
          <p:nvPr/>
        </p:nvPicPr>
        <p:blipFill>
          <a:blip r:embed="rId1"/>
          <a:stretch>
            <a:fillRect/>
          </a:stretch>
        </p:blipFill>
        <p:spPr>
          <a:xfrm>
            <a:off x="182880" y="868680"/>
            <a:ext cx="8778240" cy="3840480"/>
          </a:xfrm>
          <a:prstGeom prst="rect">
            <a:avLst/>
          </a:prstGeom>
        </p:spPr>
      </p:pic>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7 / 27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Agents + SQL Server</a:t>
            </a:r>
            <a:endParaRPr lang="en-US" sz="1000" dirty="0"/>
          </a:p>
        </p:txBody>
      </p:sp>
      <p:sp>
        <p:nvSpPr>
          <p:cNvPr id="4" name="Text 2"/>
          <p:cNvSpPr/>
          <p:nvPr/>
        </p:nvSpPr>
        <p:spPr>
          <a:xfrm>
            <a:off x="548640" y="228600"/>
            <a:ext cx="54864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What is MCP?</a:t>
            </a:r>
            <a:endParaRPr lang="en-US" sz="3000" dirty="0"/>
          </a:p>
        </p:txBody>
      </p:sp>
      <p:sp>
        <p:nvSpPr>
          <p:cNvPr id="5" name="Text 3"/>
          <p:cNvSpPr/>
          <p:nvPr/>
        </p:nvSpPr>
        <p:spPr>
          <a:xfrm>
            <a:off x="548640" y="777240"/>
            <a:ext cx="3657600" cy="365760"/>
          </a:xfrm>
          <a:prstGeom prst="rect">
            <a:avLst/>
          </a:prstGeom>
          <a:noFill/>
          <a:ln/>
        </p:spPr>
        <p:txBody>
          <a:bodyPr wrap="square" rtlCol="0" anchor="ctr"/>
          <a:lstStyle/>
          <a:p>
            <a:pPr indent="0" marL="0">
              <a:buNone/>
            </a:pPr>
            <a:r>
              <a:rPr lang="en-US" sz="1600" i="1" dirty="0">
                <a:solidFill>
                  <a:srgbClr val="146BCD"/>
                </a:solidFill>
                <a:latin typeface="Nunito Sans" pitchFamily="34" charset="0"/>
                <a:ea typeface="Nunito Sans" pitchFamily="34" charset="-122"/>
                <a:cs typeface="Nunito Sans" pitchFamily="34" charset="-120"/>
              </a:rPr>
              <a:t>Model Context Protocol</a:t>
            </a:r>
            <a:endParaRPr lang="en-US" sz="1600" dirty="0"/>
          </a:p>
        </p:txBody>
      </p:sp>
      <p:sp>
        <p:nvSpPr>
          <p:cNvPr id="6" name="Text 4"/>
          <p:cNvSpPr/>
          <p:nvPr/>
        </p:nvSpPr>
        <p:spPr>
          <a:xfrm>
            <a:off x="548640" y="1325880"/>
            <a:ext cx="4572000" cy="457200"/>
          </a:xfrm>
          <a:prstGeom prst="rect">
            <a:avLst/>
          </a:prstGeom>
          <a:noFill/>
          <a:ln/>
        </p:spPr>
        <p:txBody>
          <a:bodyPr wrap="square" lIns="0" tIns="0" rIns="0" bIns="0" rtlCol="0" anchor="t"/>
          <a:lstStyle/>
          <a:p>
            <a:pPr marL="342900" indent="-342900">
              <a:buSzPct val="100000"/>
              <a:buChar char="•"/>
            </a:pPr>
            <a:r>
              <a:rPr lang="en-US" sz="1500" dirty="0">
                <a:solidFill>
                  <a:srgbClr val="0D2B4E"/>
                </a:solidFill>
                <a:latin typeface="Nunito Sans" pitchFamily="34" charset="0"/>
                <a:ea typeface="Nunito Sans" pitchFamily="34" charset="-122"/>
                <a:cs typeface="Nunito Sans" pitchFamily="34" charset="-120"/>
              </a:rPr>
              <a:t>Open standard for agent-tool communication</a:t>
            </a:r>
            <a:endParaRPr lang="en-US" sz="1500" dirty="0"/>
          </a:p>
        </p:txBody>
      </p:sp>
      <p:sp>
        <p:nvSpPr>
          <p:cNvPr id="7" name="Text 5"/>
          <p:cNvSpPr/>
          <p:nvPr/>
        </p:nvSpPr>
        <p:spPr>
          <a:xfrm>
            <a:off x="548640" y="1828800"/>
            <a:ext cx="4572000" cy="457200"/>
          </a:xfrm>
          <a:prstGeom prst="rect">
            <a:avLst/>
          </a:prstGeom>
          <a:noFill/>
          <a:ln/>
        </p:spPr>
        <p:txBody>
          <a:bodyPr wrap="square" lIns="0" tIns="0" rIns="0" bIns="0" rtlCol="0" anchor="t"/>
          <a:lstStyle/>
          <a:p>
            <a:pPr marL="342900" indent="-342900">
              <a:buSzPct val="100000"/>
              <a:buChar char="•"/>
            </a:pPr>
            <a:r>
              <a:rPr lang="en-US" sz="1500" dirty="0">
                <a:solidFill>
                  <a:srgbClr val="0D2B4E"/>
                </a:solidFill>
                <a:latin typeface="Nunito Sans" pitchFamily="34" charset="0"/>
                <a:ea typeface="Nunito Sans" pitchFamily="34" charset="-122"/>
                <a:cs typeface="Nunito Sans" pitchFamily="34" charset="-120"/>
              </a:rPr>
              <a:t>Defines tools an agent can call (like an API contract)</a:t>
            </a:r>
            <a:endParaRPr lang="en-US" sz="1500" dirty="0"/>
          </a:p>
        </p:txBody>
      </p:sp>
      <p:sp>
        <p:nvSpPr>
          <p:cNvPr id="8" name="Text 6"/>
          <p:cNvSpPr/>
          <p:nvPr/>
        </p:nvSpPr>
        <p:spPr>
          <a:xfrm>
            <a:off x="548640" y="2331720"/>
            <a:ext cx="4572000" cy="457200"/>
          </a:xfrm>
          <a:prstGeom prst="rect">
            <a:avLst/>
          </a:prstGeom>
          <a:noFill/>
          <a:ln/>
        </p:spPr>
        <p:txBody>
          <a:bodyPr wrap="square" lIns="0" tIns="0" rIns="0" bIns="0" rtlCol="0" anchor="t"/>
          <a:lstStyle/>
          <a:p>
            <a:pPr marL="342900" indent="-342900">
              <a:buSzPct val="100000"/>
              <a:buChar char="•"/>
            </a:pPr>
            <a:r>
              <a:rPr lang="en-US" sz="1500" dirty="0">
                <a:solidFill>
                  <a:srgbClr val="0D2B4E"/>
                </a:solidFill>
                <a:latin typeface="Nunito Sans" pitchFamily="34" charset="0"/>
                <a:ea typeface="Nunito Sans" pitchFamily="34" charset="-122"/>
                <a:cs typeface="Nunito Sans" pitchFamily="34" charset="-120"/>
              </a:rPr>
              <a:t>Handles authentication, parameter validation</a:t>
            </a:r>
            <a:endParaRPr lang="en-US" sz="1500" dirty="0"/>
          </a:p>
        </p:txBody>
      </p:sp>
      <p:sp>
        <p:nvSpPr>
          <p:cNvPr id="9" name="Text 7"/>
          <p:cNvSpPr/>
          <p:nvPr/>
        </p:nvSpPr>
        <p:spPr>
          <a:xfrm>
            <a:off x="548640" y="2834640"/>
            <a:ext cx="4572000" cy="457200"/>
          </a:xfrm>
          <a:prstGeom prst="rect">
            <a:avLst/>
          </a:prstGeom>
          <a:noFill/>
          <a:ln/>
        </p:spPr>
        <p:txBody>
          <a:bodyPr wrap="square" lIns="0" tIns="0" rIns="0" bIns="0" rtlCol="0" anchor="t"/>
          <a:lstStyle/>
          <a:p>
            <a:pPr marL="342900" indent="-342900">
              <a:buSzPct val="100000"/>
              <a:buChar char="•"/>
            </a:pPr>
            <a:r>
              <a:rPr lang="en-US" sz="1500" dirty="0">
                <a:solidFill>
                  <a:srgbClr val="0D2B4E"/>
                </a:solidFill>
                <a:latin typeface="Nunito Sans" pitchFamily="34" charset="0"/>
                <a:ea typeface="Nunito Sans" pitchFamily="34" charset="-122"/>
                <a:cs typeface="Nunito Sans" pitchFamily="34" charset="-120"/>
              </a:rPr>
              <a:t>Supports SQL Server via community MCP servers</a:t>
            </a:r>
            <a:endParaRPr lang="en-US" sz="1500" dirty="0"/>
          </a:p>
        </p:txBody>
      </p:sp>
      <p:sp>
        <p:nvSpPr>
          <p:cNvPr id="10" name="Text 8"/>
          <p:cNvSpPr/>
          <p:nvPr/>
        </p:nvSpPr>
        <p:spPr>
          <a:xfrm>
            <a:off x="548640" y="3337560"/>
            <a:ext cx="4572000" cy="457200"/>
          </a:xfrm>
          <a:prstGeom prst="rect">
            <a:avLst/>
          </a:prstGeom>
          <a:noFill/>
          <a:ln/>
        </p:spPr>
        <p:txBody>
          <a:bodyPr wrap="square" lIns="0" tIns="0" rIns="0" bIns="0" rtlCol="0" anchor="t"/>
          <a:lstStyle/>
          <a:p>
            <a:pPr marL="342900" indent="-342900">
              <a:buSzPct val="100000"/>
              <a:buChar char="•"/>
            </a:pPr>
            <a:r>
              <a:rPr lang="en-US" sz="1500" dirty="0">
                <a:solidFill>
                  <a:srgbClr val="0D2B4E"/>
                </a:solidFill>
                <a:latin typeface="Nunito Sans" pitchFamily="34" charset="0"/>
                <a:ea typeface="Nunito Sans" pitchFamily="34" charset="-122"/>
                <a:cs typeface="Nunito Sans" pitchFamily="34" charset="-120"/>
              </a:rPr>
              <a:t>Can be self-hosted on-prem—no cloud dependency</a:t>
            </a:r>
            <a:endParaRPr lang="en-US" sz="1500" dirty="0"/>
          </a:p>
        </p:txBody>
      </p:sp>
      <p:sp>
        <p:nvSpPr>
          <p:cNvPr id="11" name="Shape 9"/>
          <p:cNvSpPr/>
          <p:nvPr/>
        </p:nvSpPr>
        <p:spPr>
          <a:xfrm>
            <a:off x="5303520" y="1188720"/>
            <a:ext cx="3474720" cy="3291840"/>
          </a:xfrm>
          <a:prstGeom prst="rect">
            <a:avLst/>
          </a:prstGeom>
          <a:solidFill>
            <a:srgbClr val="081D36"/>
          </a:solidFill>
          <a:ln/>
          <a:effectLst>
            <a:outerShdw sx="100000" sy="100000" kx="0" ky="0" algn="bl" rotWithShape="0" blurRad="76200" dist="25400" dir="8100000">
              <a:srgbClr val="000000">
                <a:alpha val="12000"/>
              </a:srgbClr>
            </a:outerShdw>
          </a:effectLst>
        </p:spPr>
      </p:sp>
      <p:sp>
        <p:nvSpPr>
          <p:cNvPr id="12" name="Text 10"/>
          <p:cNvSpPr/>
          <p:nvPr/>
        </p:nvSpPr>
        <p:spPr>
          <a:xfrm>
            <a:off x="5486400" y="1280160"/>
            <a:ext cx="3108960" cy="365760"/>
          </a:xfrm>
          <a:prstGeom prst="rect">
            <a:avLst/>
          </a:prstGeom>
          <a:noFill/>
          <a:ln/>
        </p:spPr>
        <p:txBody>
          <a:bodyPr wrap="square" rtlCol="0" anchor="ctr"/>
          <a:lstStyle/>
          <a:p>
            <a:pPr indent="0" marL="0">
              <a:buNone/>
            </a:pPr>
            <a:r>
              <a:rPr lang="en-US" sz="1300" b="1" dirty="0">
                <a:solidFill>
                  <a:srgbClr val="3D8ADE"/>
                </a:solidFill>
                <a:latin typeface="Nunito Sans" pitchFamily="34" charset="0"/>
                <a:ea typeface="Nunito Sans" pitchFamily="34" charset="-122"/>
                <a:cs typeface="Nunito Sans" pitchFamily="34" charset="-120"/>
              </a:rPr>
              <a:t>MCP Tool Definition</a:t>
            </a:r>
            <a:endParaRPr lang="en-US" sz="1300" dirty="0"/>
          </a:p>
        </p:txBody>
      </p:sp>
      <p:sp>
        <p:nvSpPr>
          <p:cNvPr id="13" name="Text 11"/>
          <p:cNvSpPr/>
          <p:nvPr/>
        </p:nvSpPr>
        <p:spPr>
          <a:xfrm>
            <a:off x="5486400" y="1691640"/>
            <a:ext cx="3200400" cy="2651760"/>
          </a:xfrm>
          <a:prstGeom prst="rect">
            <a:avLst/>
          </a:prstGeom>
          <a:noFill/>
          <a:ln/>
        </p:spPr>
        <p:txBody>
          <a:bodyPr wrap="square" rtlCol="0" anchor="t"/>
          <a:lstStyle/>
          <a:p>
            <a:pPr indent="0" marL="0">
              <a:buNone/>
            </a:pPr>
            <a:r>
              <a:rPr lang="en-US" sz="1200" dirty="0">
                <a:solidFill>
                  <a:srgbClr val="C8D6E5"/>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"name": "query_sql",</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"description": "Run</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read-only SQL query",</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"parameters": {</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"query": "string",</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"database": "string"</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"permissions": [</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"db_datareader"</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a:t>
            </a:r>
            <a:endParaRPr lang="en-US" sz="1200" dirty="0"/>
          </a:p>
        </p:txBody>
      </p:sp>
      <p:sp>
        <p:nvSpPr>
          <p:cNvPr id="14" name="Text 12"/>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8 / 27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Agents + SQL Server</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Connection Patterns for Agents</a:t>
            </a:r>
            <a:endParaRPr lang="en-US" sz="3000" dirty="0"/>
          </a:p>
        </p:txBody>
      </p:sp>
      <p:sp>
        <p:nvSpPr>
          <p:cNvPr id="5" name="Shape 3"/>
          <p:cNvSpPr/>
          <p:nvPr/>
        </p:nvSpPr>
        <p:spPr>
          <a:xfrm>
            <a:off x="548640" y="1051560"/>
            <a:ext cx="80467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51560"/>
            <a:ext cx="64008" cy="1051560"/>
          </a:xfrm>
          <a:prstGeom prst="rect">
            <a:avLst/>
          </a:prstGeom>
          <a:solidFill>
            <a:srgbClr val="2AA876"/>
          </a:solidFill>
          <a:ln/>
        </p:spPr>
      </p:sp>
      <p:pic>
        <p:nvPicPr>
          <p:cNvPr id="7" name="Image 0" descr="preencoded.png">    </p:cNvPr>
          <p:cNvPicPr>
            <a:picLocks noChangeAspect="1"/>
          </p:cNvPicPr>
          <p:nvPr/>
        </p:nvPicPr>
        <p:blipFill>
          <a:blip r:embed="rId1"/>
          <a:stretch>
            <a:fillRect/>
          </a:stretch>
        </p:blipFill>
        <p:spPr>
          <a:xfrm>
            <a:off x="868680" y="1325880"/>
            <a:ext cx="502920" cy="502920"/>
          </a:xfrm>
          <a:prstGeom prst="rect">
            <a:avLst/>
          </a:prstGeom>
        </p:spPr>
      </p:pic>
      <p:sp>
        <p:nvSpPr>
          <p:cNvPr id="8" name="Text 5"/>
          <p:cNvSpPr/>
          <p:nvPr/>
        </p:nvSpPr>
        <p:spPr>
          <a:xfrm>
            <a:off x="1600200" y="1143000"/>
            <a:ext cx="6766560" cy="411480"/>
          </a:xfrm>
          <a:prstGeom prst="rect">
            <a:avLst/>
          </a:prstGeom>
          <a:noFill/>
          <a:ln/>
        </p:spPr>
        <p:txBody>
          <a:bodyPr wrap="square" lIns="0" tIns="0" rIns="0" bIns="0" rtlCol="0" anchor="ctr"/>
          <a:lstStyle/>
          <a:p>
            <a:pPr indent="0" marL="0">
              <a:buNone/>
            </a:pPr>
            <a:r>
              <a:rPr lang="en-US" sz="1900" b="1" dirty="0">
                <a:solidFill>
                  <a:srgbClr val="0D2B4E"/>
                </a:solidFill>
                <a:latin typeface="Inter" pitchFamily="34" charset="0"/>
                <a:ea typeface="Inter" pitchFamily="34" charset="-122"/>
                <a:cs typeface="Inter" pitchFamily="34" charset="-120"/>
              </a:rPr>
              <a:t>Read-Only Explorer</a:t>
            </a:r>
            <a:endParaRPr lang="en-US" sz="1900" dirty="0"/>
          </a:p>
        </p:txBody>
      </p:sp>
      <p:sp>
        <p:nvSpPr>
          <p:cNvPr id="9" name="Text 6"/>
          <p:cNvSpPr/>
          <p:nvPr/>
        </p:nvSpPr>
        <p:spPr>
          <a:xfrm>
            <a:off x="1600200" y="1554480"/>
            <a:ext cx="6766560" cy="45720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Agent can SELECT from approved views and tables. No writes. Ideal starting point.</a:t>
            </a:r>
            <a:endParaRPr lang="en-US" sz="1400" dirty="0"/>
          </a:p>
        </p:txBody>
      </p:sp>
      <p:sp>
        <p:nvSpPr>
          <p:cNvPr id="10" name="Shape 7"/>
          <p:cNvSpPr/>
          <p:nvPr/>
        </p:nvSpPr>
        <p:spPr>
          <a:xfrm>
            <a:off x="548640" y="2286000"/>
            <a:ext cx="80467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548640" y="2286000"/>
            <a:ext cx="64008" cy="1051560"/>
          </a:xfrm>
          <a:prstGeom prst="rect">
            <a:avLst/>
          </a:prstGeom>
          <a:solidFill>
            <a:srgbClr val="146BCD"/>
          </a:solidFill>
          <a:ln/>
        </p:spPr>
      </p:sp>
      <p:pic>
        <p:nvPicPr>
          <p:cNvPr id="12" name="Image 1" descr="preencoded.png">    </p:cNvPr>
          <p:cNvPicPr>
            <a:picLocks noChangeAspect="1"/>
          </p:cNvPicPr>
          <p:nvPr/>
        </p:nvPicPr>
        <p:blipFill>
          <a:blip r:embed="rId2"/>
          <a:stretch>
            <a:fillRect/>
          </a:stretch>
        </p:blipFill>
        <p:spPr>
          <a:xfrm>
            <a:off x="868680" y="2560320"/>
            <a:ext cx="502920" cy="502920"/>
          </a:xfrm>
          <a:prstGeom prst="rect">
            <a:avLst/>
          </a:prstGeom>
        </p:spPr>
      </p:pic>
      <p:sp>
        <p:nvSpPr>
          <p:cNvPr id="13" name="Text 9"/>
          <p:cNvSpPr/>
          <p:nvPr/>
        </p:nvSpPr>
        <p:spPr>
          <a:xfrm>
            <a:off x="1600200" y="2377440"/>
            <a:ext cx="6766560" cy="411480"/>
          </a:xfrm>
          <a:prstGeom prst="rect">
            <a:avLst/>
          </a:prstGeom>
          <a:noFill/>
          <a:ln/>
        </p:spPr>
        <p:txBody>
          <a:bodyPr wrap="square" lIns="0" tIns="0" rIns="0" bIns="0" rtlCol="0" anchor="ctr"/>
          <a:lstStyle/>
          <a:p>
            <a:pPr indent="0" marL="0">
              <a:buNone/>
            </a:pPr>
            <a:r>
              <a:rPr lang="en-US" sz="1900" b="1" dirty="0">
                <a:solidFill>
                  <a:srgbClr val="0D2B4E"/>
                </a:solidFill>
                <a:latin typeface="Inter" pitchFamily="34" charset="0"/>
                <a:ea typeface="Inter" pitchFamily="34" charset="-122"/>
                <a:cs typeface="Inter" pitchFamily="34" charset="-120"/>
              </a:rPr>
              <a:t>Stored Proc Executor</a:t>
            </a:r>
            <a:endParaRPr lang="en-US" sz="1900" dirty="0"/>
          </a:p>
        </p:txBody>
      </p:sp>
      <p:sp>
        <p:nvSpPr>
          <p:cNvPr id="14" name="Text 10"/>
          <p:cNvSpPr/>
          <p:nvPr/>
        </p:nvSpPr>
        <p:spPr>
          <a:xfrm>
            <a:off x="1600200" y="2788920"/>
            <a:ext cx="6766560" cy="45720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Agent calls pre-approved stored procedures only. No ad-hoc SQL. Strongest control.</a:t>
            </a:r>
            <a:endParaRPr lang="en-US" sz="1400" dirty="0"/>
          </a:p>
        </p:txBody>
      </p:sp>
      <p:sp>
        <p:nvSpPr>
          <p:cNvPr id="15" name="Shape 11"/>
          <p:cNvSpPr/>
          <p:nvPr/>
        </p:nvSpPr>
        <p:spPr>
          <a:xfrm>
            <a:off x="548640" y="3520440"/>
            <a:ext cx="804672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548640" y="3520440"/>
            <a:ext cx="64008" cy="1051560"/>
          </a:xfrm>
          <a:prstGeom prst="rect">
            <a:avLst/>
          </a:prstGeom>
          <a:solidFill>
            <a:srgbClr val="E85D24"/>
          </a:solidFill>
          <a:ln/>
        </p:spPr>
      </p:sp>
      <p:pic>
        <p:nvPicPr>
          <p:cNvPr id="17" name="Image 2" descr="preencoded.png">    </p:cNvPr>
          <p:cNvPicPr>
            <a:picLocks noChangeAspect="1"/>
          </p:cNvPicPr>
          <p:nvPr/>
        </p:nvPicPr>
        <p:blipFill>
          <a:blip r:embed="rId3"/>
          <a:stretch>
            <a:fillRect/>
          </a:stretch>
        </p:blipFill>
        <p:spPr>
          <a:xfrm>
            <a:off x="868680" y="3794760"/>
            <a:ext cx="502920" cy="502920"/>
          </a:xfrm>
          <a:prstGeom prst="rect">
            <a:avLst/>
          </a:prstGeom>
        </p:spPr>
      </p:pic>
      <p:sp>
        <p:nvSpPr>
          <p:cNvPr id="18" name="Text 13"/>
          <p:cNvSpPr/>
          <p:nvPr/>
        </p:nvSpPr>
        <p:spPr>
          <a:xfrm>
            <a:off x="1600200" y="3611880"/>
            <a:ext cx="6766560" cy="411480"/>
          </a:xfrm>
          <a:prstGeom prst="rect">
            <a:avLst/>
          </a:prstGeom>
          <a:noFill/>
          <a:ln/>
        </p:spPr>
        <p:txBody>
          <a:bodyPr wrap="square" lIns="0" tIns="0" rIns="0" bIns="0" rtlCol="0" anchor="ctr"/>
          <a:lstStyle/>
          <a:p>
            <a:pPr indent="0" marL="0">
              <a:buNone/>
            </a:pPr>
            <a:r>
              <a:rPr lang="en-US" sz="1900" b="1" dirty="0">
                <a:solidFill>
                  <a:srgbClr val="0D2B4E"/>
                </a:solidFill>
                <a:latin typeface="Inter" pitchFamily="34" charset="0"/>
                <a:ea typeface="Inter" pitchFamily="34" charset="-122"/>
                <a:cs typeface="Inter" pitchFamily="34" charset="-120"/>
              </a:rPr>
              <a:t>Supervised Write</a:t>
            </a:r>
            <a:endParaRPr lang="en-US" sz="1900" dirty="0"/>
          </a:p>
        </p:txBody>
      </p:sp>
      <p:sp>
        <p:nvSpPr>
          <p:cNvPr id="19" name="Text 14"/>
          <p:cNvSpPr/>
          <p:nvPr/>
        </p:nvSpPr>
        <p:spPr>
          <a:xfrm>
            <a:off x="1600200" y="4023360"/>
            <a:ext cx="6766560" cy="45720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Agent proposes DML; DBA approves before execution. Human-in-the-loop pattern.</a:t>
            </a:r>
            <a:endParaRPr lang="en-US" sz="1400" dirty="0"/>
          </a:p>
        </p:txBody>
      </p:sp>
      <p:sp>
        <p:nvSpPr>
          <p:cNvPr id="20" name="Text 15"/>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9 / 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Agents + SQL Server</a:t>
            </a:r>
            <a:endParaRPr lang="en-US" sz="1000" dirty="0"/>
          </a:p>
        </p:txBody>
      </p:sp>
      <p:sp>
        <p:nvSpPr>
          <p:cNvPr id="4" name="Text 2"/>
          <p:cNvSpPr/>
          <p:nvPr/>
        </p:nvSpPr>
        <p:spPr>
          <a:xfrm>
            <a:off x="548640" y="228600"/>
            <a:ext cx="77724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SQL Server 2025: AI-Relevant Features</a:t>
            </a:r>
            <a:endParaRPr lang="en-US" sz="2800" dirty="0"/>
          </a:p>
        </p:txBody>
      </p:sp>
      <p:sp>
        <p:nvSpPr>
          <p:cNvPr id="5" name="Shape 3"/>
          <p:cNvSpPr/>
          <p:nvPr/>
        </p:nvSpPr>
        <p:spPr>
          <a:xfrm>
            <a:off x="548640" y="100584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05840"/>
            <a:ext cx="64008" cy="822960"/>
          </a:xfrm>
          <a:prstGeom prst="rect">
            <a:avLst/>
          </a:prstGeom>
          <a:solidFill>
            <a:srgbClr val="146BCD"/>
          </a:solidFill>
          <a:ln/>
        </p:spPr>
      </p:sp>
      <p:pic>
        <p:nvPicPr>
          <p:cNvPr id="7" name="Image 0" descr="preencoded.png">    </p:cNvPr>
          <p:cNvPicPr>
            <a:picLocks noChangeAspect="1"/>
          </p:cNvPicPr>
          <p:nvPr/>
        </p:nvPicPr>
        <p:blipFill>
          <a:blip r:embed="rId1"/>
          <a:stretch>
            <a:fillRect/>
          </a:stretch>
        </p:blipFill>
        <p:spPr>
          <a:xfrm>
            <a:off x="822960" y="1188720"/>
            <a:ext cx="457200" cy="457200"/>
          </a:xfrm>
          <a:prstGeom prst="rect">
            <a:avLst/>
          </a:prstGeom>
        </p:spPr>
      </p:pic>
      <p:sp>
        <p:nvSpPr>
          <p:cNvPr id="8" name="Text 5"/>
          <p:cNvSpPr/>
          <p:nvPr/>
        </p:nvSpPr>
        <p:spPr>
          <a:xfrm>
            <a:off x="1463040" y="1024128"/>
            <a:ext cx="6949440" cy="365760"/>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Native Vector Search</a:t>
            </a:r>
            <a:endParaRPr lang="en-US" sz="1600" dirty="0"/>
          </a:p>
        </p:txBody>
      </p:sp>
      <p:sp>
        <p:nvSpPr>
          <p:cNvPr id="9" name="Text 6"/>
          <p:cNvSpPr/>
          <p:nvPr/>
        </p:nvSpPr>
        <p:spPr>
          <a:xfrm>
            <a:off x="1463040" y="1389888"/>
            <a:ext cx="6949440" cy="384048"/>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Store and query embeddings directly in SQL Server. No external vector DB needed.</a:t>
            </a:r>
            <a:endParaRPr lang="en-US" sz="1300" dirty="0"/>
          </a:p>
        </p:txBody>
      </p:sp>
      <p:sp>
        <p:nvSpPr>
          <p:cNvPr id="10" name="Shape 7"/>
          <p:cNvSpPr/>
          <p:nvPr/>
        </p:nvSpPr>
        <p:spPr>
          <a:xfrm>
            <a:off x="548640" y="196596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548640" y="1965960"/>
            <a:ext cx="64008" cy="822960"/>
          </a:xfrm>
          <a:prstGeom prst="rect">
            <a:avLst/>
          </a:prstGeom>
          <a:solidFill>
            <a:srgbClr val="146BCD"/>
          </a:solidFill>
          <a:ln/>
        </p:spPr>
      </p:sp>
      <p:pic>
        <p:nvPicPr>
          <p:cNvPr id="12" name="Image 1" descr="preencoded.png">    </p:cNvPr>
          <p:cNvPicPr>
            <a:picLocks noChangeAspect="1"/>
          </p:cNvPicPr>
          <p:nvPr/>
        </p:nvPicPr>
        <p:blipFill>
          <a:blip r:embed="rId2"/>
          <a:stretch>
            <a:fillRect/>
          </a:stretch>
        </p:blipFill>
        <p:spPr>
          <a:xfrm>
            <a:off x="822960" y="2148840"/>
            <a:ext cx="457200" cy="457200"/>
          </a:xfrm>
          <a:prstGeom prst="rect">
            <a:avLst/>
          </a:prstGeom>
        </p:spPr>
      </p:pic>
      <p:sp>
        <p:nvSpPr>
          <p:cNvPr id="13" name="Text 9"/>
          <p:cNvSpPr/>
          <p:nvPr/>
        </p:nvSpPr>
        <p:spPr>
          <a:xfrm>
            <a:off x="1463040" y="1984248"/>
            <a:ext cx="6949440" cy="365760"/>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sp_invoke_external_rest_endpoint</a:t>
            </a:r>
            <a:endParaRPr lang="en-US" sz="1600" dirty="0"/>
          </a:p>
        </p:txBody>
      </p:sp>
      <p:sp>
        <p:nvSpPr>
          <p:cNvPr id="14" name="Text 10"/>
          <p:cNvSpPr/>
          <p:nvPr/>
        </p:nvSpPr>
        <p:spPr>
          <a:xfrm>
            <a:off x="1463040" y="2350008"/>
            <a:ext cx="6949440" cy="384048"/>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Call REST APIs from T-SQL. Agents can be orchestrated partly from within the database.</a:t>
            </a:r>
            <a:endParaRPr lang="en-US" sz="1300" dirty="0"/>
          </a:p>
        </p:txBody>
      </p:sp>
      <p:sp>
        <p:nvSpPr>
          <p:cNvPr id="15" name="Shape 11"/>
          <p:cNvSpPr/>
          <p:nvPr/>
        </p:nvSpPr>
        <p:spPr>
          <a:xfrm>
            <a:off x="548640" y="292608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548640" y="2926080"/>
            <a:ext cx="64008" cy="822960"/>
          </a:xfrm>
          <a:prstGeom prst="rect">
            <a:avLst/>
          </a:prstGeom>
          <a:solidFill>
            <a:srgbClr val="146BCD"/>
          </a:solidFill>
          <a:ln/>
        </p:spPr>
      </p:sp>
      <p:pic>
        <p:nvPicPr>
          <p:cNvPr id="17" name="Image 2" descr="preencoded.png">    </p:cNvPr>
          <p:cNvPicPr>
            <a:picLocks noChangeAspect="1"/>
          </p:cNvPicPr>
          <p:nvPr/>
        </p:nvPicPr>
        <p:blipFill>
          <a:blip r:embed="rId3"/>
          <a:stretch>
            <a:fillRect/>
          </a:stretch>
        </p:blipFill>
        <p:spPr>
          <a:xfrm>
            <a:off x="822960" y="3108960"/>
            <a:ext cx="457200" cy="457200"/>
          </a:xfrm>
          <a:prstGeom prst="rect">
            <a:avLst/>
          </a:prstGeom>
        </p:spPr>
      </p:pic>
      <p:sp>
        <p:nvSpPr>
          <p:cNvPr id="18" name="Text 13"/>
          <p:cNvSpPr/>
          <p:nvPr/>
        </p:nvSpPr>
        <p:spPr>
          <a:xfrm>
            <a:off x="1463040" y="2944368"/>
            <a:ext cx="6949440" cy="365760"/>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Enhanced JSON / DynamicJSON</a:t>
            </a:r>
            <a:endParaRPr lang="en-US" sz="1600" dirty="0"/>
          </a:p>
        </p:txBody>
      </p:sp>
      <p:sp>
        <p:nvSpPr>
          <p:cNvPr id="19" name="Text 14"/>
          <p:cNvSpPr/>
          <p:nvPr/>
        </p:nvSpPr>
        <p:spPr>
          <a:xfrm>
            <a:off x="1463040" y="3310128"/>
            <a:ext cx="6949440" cy="384048"/>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Better JSON handling for structured data exchange with agents and MCP servers.</a:t>
            </a:r>
            <a:endParaRPr lang="en-US" sz="1300" dirty="0"/>
          </a:p>
        </p:txBody>
      </p:sp>
      <p:sp>
        <p:nvSpPr>
          <p:cNvPr id="20" name="Shape 15"/>
          <p:cNvSpPr/>
          <p:nvPr/>
        </p:nvSpPr>
        <p:spPr>
          <a:xfrm>
            <a:off x="548640" y="388620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548640" y="3886200"/>
            <a:ext cx="64008" cy="822960"/>
          </a:xfrm>
          <a:prstGeom prst="rect">
            <a:avLst/>
          </a:prstGeom>
          <a:solidFill>
            <a:srgbClr val="146BCD"/>
          </a:solidFill>
          <a:ln/>
        </p:spPr>
      </p:sp>
      <p:pic>
        <p:nvPicPr>
          <p:cNvPr id="22" name="Image 3" descr="preencoded.png">    </p:cNvPr>
          <p:cNvPicPr>
            <a:picLocks noChangeAspect="1"/>
          </p:cNvPicPr>
          <p:nvPr/>
        </p:nvPicPr>
        <p:blipFill>
          <a:blip r:embed="rId4"/>
          <a:stretch>
            <a:fillRect/>
          </a:stretch>
        </p:blipFill>
        <p:spPr>
          <a:xfrm>
            <a:off x="822960" y="4069080"/>
            <a:ext cx="457200" cy="457200"/>
          </a:xfrm>
          <a:prstGeom prst="rect">
            <a:avLst/>
          </a:prstGeom>
        </p:spPr>
      </p:pic>
      <p:sp>
        <p:nvSpPr>
          <p:cNvPr id="23" name="Text 17"/>
          <p:cNvSpPr/>
          <p:nvPr/>
        </p:nvSpPr>
        <p:spPr>
          <a:xfrm>
            <a:off x="1463040" y="3904488"/>
            <a:ext cx="6949440" cy="365760"/>
          </a:xfrm>
          <a:prstGeom prst="rect">
            <a:avLst/>
          </a:prstGeom>
          <a:noFill/>
          <a:ln/>
        </p:spPr>
        <p:txBody>
          <a:bodyPr wrap="square" lIns="0" tIns="0" rIns="0" bIns="0" rtlCol="0" anchor="ctr"/>
          <a:lstStyle/>
          <a:p>
            <a:pPr indent="0" marL="0">
              <a:buNone/>
            </a:pPr>
            <a:r>
              <a:rPr lang="en-US" sz="1600" b="1" dirty="0">
                <a:solidFill>
                  <a:srgbClr val="0D2B4E"/>
                </a:solidFill>
                <a:latin typeface="Inter" pitchFamily="34" charset="0"/>
                <a:ea typeface="Inter" pitchFamily="34" charset="-122"/>
                <a:cs typeface="Inter" pitchFamily="34" charset="-120"/>
              </a:rPr>
              <a:t>Improved Security Auditing</a:t>
            </a:r>
            <a:endParaRPr lang="en-US" sz="1600" dirty="0"/>
          </a:p>
        </p:txBody>
      </p:sp>
      <p:sp>
        <p:nvSpPr>
          <p:cNvPr id="24" name="Text 18"/>
          <p:cNvSpPr/>
          <p:nvPr/>
        </p:nvSpPr>
        <p:spPr>
          <a:xfrm>
            <a:off x="1463040" y="4270248"/>
            <a:ext cx="6949440" cy="384048"/>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Finer-grained audit events. Every agent action can be captured and correlated.</a:t>
            </a:r>
            <a:endParaRPr lang="en-US" sz="1300" dirty="0"/>
          </a:p>
        </p:txBody>
      </p:sp>
      <p:sp>
        <p:nvSpPr>
          <p:cNvPr id="25" name="Text 19"/>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10 / 27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3</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Demo: MCP Agent + SQL Server</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11 / 27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Demo</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Demo Environment</a:t>
            </a:r>
            <a:endParaRPr lang="en-US" sz="3000" dirty="0"/>
          </a:p>
        </p:txBody>
      </p:sp>
      <p:sp>
        <p:nvSpPr>
          <p:cNvPr id="5" name="Shape 3"/>
          <p:cNvSpPr/>
          <p:nvPr/>
        </p:nvSpPr>
        <p:spPr>
          <a:xfrm>
            <a:off x="548640" y="1005840"/>
            <a:ext cx="38404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05840"/>
            <a:ext cx="3840480" cy="457200"/>
          </a:xfrm>
          <a:prstGeom prst="rect">
            <a:avLst/>
          </a:prstGeom>
          <a:solidFill>
            <a:srgbClr val="0D2B4E"/>
          </a:solidFill>
          <a:ln/>
        </p:spPr>
      </p:sp>
      <p:sp>
        <p:nvSpPr>
          <p:cNvPr id="7" name="Text 5"/>
          <p:cNvSpPr/>
          <p:nvPr/>
        </p:nvSpPr>
        <p:spPr>
          <a:xfrm>
            <a:off x="731520" y="1005840"/>
            <a:ext cx="3474720" cy="457200"/>
          </a:xfrm>
          <a:prstGeom prst="rect">
            <a:avLst/>
          </a:prstGeom>
          <a:noFill/>
          <a:ln/>
        </p:spPr>
        <p:txBody>
          <a:bodyPr wrap="square" rtlCol="0" anchor="ctr"/>
          <a:lstStyle/>
          <a:p>
            <a:pPr indent="0" marL="0">
              <a:buNone/>
            </a:pPr>
            <a:r>
              <a:rPr lang="en-US" sz="1600" b="1" dirty="0">
                <a:solidFill>
                  <a:srgbClr val="FFFFFF"/>
                </a:solidFill>
                <a:latin typeface="Inter" pitchFamily="34" charset="0"/>
                <a:ea typeface="Inter" pitchFamily="34" charset="-122"/>
                <a:cs typeface="Inter" pitchFamily="34" charset="-120"/>
              </a:rPr>
              <a:t>Stack</a:t>
            </a:r>
            <a:endParaRPr lang="en-US" sz="1600" dirty="0"/>
          </a:p>
        </p:txBody>
      </p:sp>
      <p:sp>
        <p:nvSpPr>
          <p:cNvPr id="8" name="Text 6"/>
          <p:cNvSpPr/>
          <p:nvPr/>
        </p:nvSpPr>
        <p:spPr>
          <a:xfrm>
            <a:off x="822960" y="16002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SQL Server 2025 (on-prem, Developer Edition)</a:t>
            </a:r>
            <a:endParaRPr lang="en-US" sz="1400" dirty="0"/>
          </a:p>
        </p:txBody>
      </p:sp>
      <p:sp>
        <p:nvSpPr>
          <p:cNvPr id="9" name="Text 7"/>
          <p:cNvSpPr/>
          <p:nvPr/>
        </p:nvSpPr>
        <p:spPr>
          <a:xfrm>
            <a:off x="822960" y="20574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MCP Server (Azure-Samples/SQL-AI-samples)</a:t>
            </a:r>
            <a:endParaRPr lang="en-US" sz="1400" dirty="0"/>
          </a:p>
        </p:txBody>
      </p:sp>
      <p:sp>
        <p:nvSpPr>
          <p:cNvPr id="10" name="Text 8"/>
          <p:cNvSpPr/>
          <p:nvPr/>
        </p:nvSpPr>
        <p:spPr>
          <a:xfrm>
            <a:off x="822960" y="25146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Claude / GPT-4 as the LLM backbone</a:t>
            </a:r>
            <a:endParaRPr lang="en-US" sz="1400" dirty="0"/>
          </a:p>
        </p:txBody>
      </p:sp>
      <p:sp>
        <p:nvSpPr>
          <p:cNvPr id="11" name="Text 9"/>
          <p:cNvSpPr/>
          <p:nvPr/>
        </p:nvSpPr>
        <p:spPr>
          <a:xfrm>
            <a:off x="822960" y="29718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AdventureWorks sample database</a:t>
            </a:r>
            <a:endParaRPr lang="en-US" sz="1400" dirty="0"/>
          </a:p>
        </p:txBody>
      </p:sp>
      <p:sp>
        <p:nvSpPr>
          <p:cNvPr id="12" name="Text 10"/>
          <p:cNvSpPr/>
          <p:nvPr/>
        </p:nvSpPr>
        <p:spPr>
          <a:xfrm>
            <a:off x="822960" y="34290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Windows Authentication (service account)</a:t>
            </a:r>
            <a:endParaRPr lang="en-US" sz="1400" dirty="0"/>
          </a:p>
        </p:txBody>
      </p:sp>
      <p:sp>
        <p:nvSpPr>
          <p:cNvPr id="13" name="Text 11"/>
          <p:cNvSpPr/>
          <p:nvPr/>
        </p:nvSpPr>
        <p:spPr>
          <a:xfrm>
            <a:off x="822960" y="3886200"/>
            <a:ext cx="338328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SQL Server Audit enabled</a:t>
            </a:r>
            <a:endParaRPr lang="en-US" sz="1400" dirty="0"/>
          </a:p>
        </p:txBody>
      </p:sp>
      <p:sp>
        <p:nvSpPr>
          <p:cNvPr id="14" name="Shape 12"/>
          <p:cNvSpPr/>
          <p:nvPr/>
        </p:nvSpPr>
        <p:spPr>
          <a:xfrm>
            <a:off x="4754880" y="1005840"/>
            <a:ext cx="402336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754880" y="1005840"/>
            <a:ext cx="4023360" cy="457200"/>
          </a:xfrm>
          <a:prstGeom prst="rect">
            <a:avLst/>
          </a:prstGeom>
          <a:solidFill>
            <a:srgbClr val="E85D24"/>
          </a:solidFill>
          <a:ln/>
        </p:spPr>
      </p:sp>
      <p:sp>
        <p:nvSpPr>
          <p:cNvPr id="16" name="Text 14"/>
          <p:cNvSpPr/>
          <p:nvPr/>
        </p:nvSpPr>
        <p:spPr>
          <a:xfrm>
            <a:off x="4937760" y="1005840"/>
            <a:ext cx="3657600" cy="457200"/>
          </a:xfrm>
          <a:prstGeom prst="rect">
            <a:avLst/>
          </a:prstGeom>
          <a:noFill/>
          <a:ln/>
        </p:spPr>
        <p:txBody>
          <a:bodyPr wrap="square" rtlCol="0" anchor="ctr"/>
          <a:lstStyle/>
          <a:p>
            <a:pPr indent="0" marL="0">
              <a:buNone/>
            </a:pPr>
            <a:r>
              <a:rPr lang="en-US" sz="1600" b="1" dirty="0">
                <a:solidFill>
                  <a:srgbClr val="FFFFFF"/>
                </a:solidFill>
                <a:latin typeface="Inter" pitchFamily="34" charset="0"/>
                <a:ea typeface="Inter" pitchFamily="34" charset="-122"/>
                <a:cs typeface="Inter" pitchFamily="34" charset="-120"/>
              </a:rPr>
              <a:t>What We'll Show</a:t>
            </a:r>
            <a:endParaRPr lang="en-US" sz="1600" dirty="0"/>
          </a:p>
        </p:txBody>
      </p:sp>
      <p:sp>
        <p:nvSpPr>
          <p:cNvPr id="17" name="Text 15"/>
          <p:cNvSpPr/>
          <p:nvPr/>
        </p:nvSpPr>
        <p:spPr>
          <a:xfrm>
            <a:off x="5029200" y="16002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Agent receives natural language request</a:t>
            </a:r>
            <a:endParaRPr lang="en-US" sz="1400" dirty="0"/>
          </a:p>
        </p:txBody>
      </p:sp>
      <p:sp>
        <p:nvSpPr>
          <p:cNvPr id="18" name="Text 16"/>
          <p:cNvSpPr/>
          <p:nvPr/>
        </p:nvSpPr>
        <p:spPr>
          <a:xfrm>
            <a:off x="5029200" y="20574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MCP server validates and scopes the request</a:t>
            </a:r>
            <a:endParaRPr lang="en-US" sz="1400" dirty="0"/>
          </a:p>
        </p:txBody>
      </p:sp>
      <p:sp>
        <p:nvSpPr>
          <p:cNvPr id="19" name="Text 17"/>
          <p:cNvSpPr/>
          <p:nvPr/>
        </p:nvSpPr>
        <p:spPr>
          <a:xfrm>
            <a:off x="5029200" y="25146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Agent generates &amp; executes read-only SQL</a:t>
            </a:r>
            <a:endParaRPr lang="en-US" sz="1400" dirty="0"/>
          </a:p>
        </p:txBody>
      </p:sp>
      <p:sp>
        <p:nvSpPr>
          <p:cNvPr id="20" name="Text 18"/>
          <p:cNvSpPr/>
          <p:nvPr/>
        </p:nvSpPr>
        <p:spPr>
          <a:xfrm>
            <a:off x="5029200" y="29718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Guardrail blocks an unauthorized write attempt</a:t>
            </a:r>
            <a:endParaRPr lang="en-US" sz="1400" dirty="0"/>
          </a:p>
        </p:txBody>
      </p:sp>
      <p:sp>
        <p:nvSpPr>
          <p:cNvPr id="21" name="Text 19"/>
          <p:cNvSpPr/>
          <p:nvPr/>
        </p:nvSpPr>
        <p:spPr>
          <a:xfrm>
            <a:off x="5029200" y="34290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Every action logged to SQL Server Audit</a:t>
            </a:r>
            <a:endParaRPr lang="en-US" sz="1400" dirty="0"/>
          </a:p>
        </p:txBody>
      </p:sp>
      <p:sp>
        <p:nvSpPr>
          <p:cNvPr id="22" name="Text 20"/>
          <p:cNvSpPr/>
          <p:nvPr/>
        </p:nvSpPr>
        <p:spPr>
          <a:xfrm>
            <a:off x="5029200" y="3886200"/>
            <a:ext cx="3566160" cy="411480"/>
          </a:xfrm>
          <a:prstGeom prst="rect">
            <a:avLst/>
          </a:prstGeom>
          <a:noFill/>
          <a:ln/>
        </p:spPr>
        <p:txBody>
          <a:bodyPr wrap="square" lIns="0" tIns="0" rIns="0" bIns="0" rtlCol="0" anchor="t"/>
          <a:lstStyle/>
          <a:p>
            <a:pPr marL="342900" indent="-342900">
              <a:buSzPct val="100000"/>
              <a:buChar char="•"/>
            </a:pPr>
            <a:r>
              <a:rPr lang="en-US" sz="1400" dirty="0">
                <a:solidFill>
                  <a:srgbClr val="0D2B4E"/>
                </a:solidFill>
                <a:latin typeface="Nunito Sans" pitchFamily="34" charset="0"/>
                <a:ea typeface="Nunito Sans" pitchFamily="34" charset="-122"/>
                <a:cs typeface="Nunito Sans" pitchFamily="34" charset="-120"/>
              </a:rPr>
              <a:t>DBA reviews agent activity in real-time</a:t>
            </a:r>
            <a:endParaRPr lang="en-US" sz="1400" dirty="0"/>
          </a:p>
        </p:txBody>
      </p:sp>
      <p:sp>
        <p:nvSpPr>
          <p:cNvPr id="23" name="Text 21"/>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12 / 27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Demo</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Demo: Read-Only Query</a:t>
            </a:r>
            <a:endParaRPr lang="en-US" sz="2800" dirty="0"/>
          </a:p>
        </p:txBody>
      </p:sp>
      <p:sp>
        <p:nvSpPr>
          <p:cNvPr id="5" name="Shape 3"/>
          <p:cNvSpPr/>
          <p:nvPr/>
        </p:nvSpPr>
        <p:spPr>
          <a:xfrm>
            <a:off x="548640" y="914400"/>
            <a:ext cx="8046720" cy="3474720"/>
          </a:xfrm>
          <a:prstGeom prst="rect">
            <a:avLst/>
          </a:prstGeom>
          <a:solidFill>
            <a:srgbClr val="0D1117"/>
          </a:solidFill>
          <a:ln/>
          <a:effectLst>
            <a:outerShdw sx="100000" sy="100000" kx="0" ky="0" algn="bl" rotWithShape="0" blurRad="76200" dist="25400" dir="8100000">
              <a:srgbClr val="000000">
                <a:alpha val="12000"/>
              </a:srgbClr>
            </a:outerShdw>
          </a:effectLst>
        </p:spPr>
      </p:sp>
      <p:sp>
        <p:nvSpPr>
          <p:cNvPr id="6" name="Shape 4"/>
          <p:cNvSpPr/>
          <p:nvPr/>
        </p:nvSpPr>
        <p:spPr>
          <a:xfrm>
            <a:off x="548640" y="914400"/>
            <a:ext cx="8046720" cy="365760"/>
          </a:xfrm>
          <a:prstGeom prst="rect">
            <a:avLst/>
          </a:prstGeom>
          <a:solidFill>
            <a:srgbClr val="161B22"/>
          </a:solidFill>
          <a:ln/>
        </p:spPr>
      </p:sp>
      <p:sp>
        <p:nvSpPr>
          <p:cNvPr id="7" name="Text 5"/>
          <p:cNvSpPr/>
          <p:nvPr/>
        </p:nvSpPr>
        <p:spPr>
          <a:xfrm>
            <a:off x="731520" y="932688"/>
            <a:ext cx="3657600" cy="329184"/>
          </a:xfrm>
          <a:prstGeom prst="rect">
            <a:avLst/>
          </a:prstGeom>
          <a:noFill/>
          <a:ln/>
        </p:spPr>
        <p:txBody>
          <a:bodyPr wrap="square" rtlCol="0" anchor="ctr"/>
          <a:lstStyle/>
          <a:p>
            <a:pPr indent="0" marL="0">
              <a:buNone/>
            </a:pPr>
            <a:r>
              <a:rPr lang="en-US" sz="1200" dirty="0">
                <a:solidFill>
                  <a:srgbClr val="8B9BB5"/>
                </a:solidFill>
                <a:latin typeface="Consolas" pitchFamily="34" charset="0"/>
                <a:ea typeface="Consolas" pitchFamily="34" charset="-122"/>
                <a:cs typeface="Consolas" pitchFamily="34" charset="-120"/>
              </a:rPr>
              <a:t>●  ●  ●   MCP Agent Terminal</a:t>
            </a:r>
            <a:endParaRPr lang="en-US" sz="1200" dirty="0"/>
          </a:p>
        </p:txBody>
      </p:sp>
      <p:sp>
        <p:nvSpPr>
          <p:cNvPr id="8" name="Text 6"/>
          <p:cNvSpPr/>
          <p:nvPr/>
        </p:nvSpPr>
        <p:spPr>
          <a:xfrm>
            <a:off x="822960" y="1371600"/>
            <a:ext cx="7498080" cy="365760"/>
          </a:xfrm>
          <a:prstGeom prst="rect">
            <a:avLst/>
          </a:prstGeom>
          <a:noFill/>
          <a:ln/>
        </p:spPr>
        <p:txBody>
          <a:bodyPr wrap="square" lIns="0" tIns="0" rIns="0" bIns="0" rtlCol="0" anchor="t"/>
          <a:lstStyle/>
          <a:p>
            <a:pPr indent="0" marL="0">
              <a:buNone/>
            </a:pPr>
            <a:r>
              <a:rPr lang="en-US" sz="1200" dirty="0">
                <a:solidFill>
                  <a:srgbClr val="C8D6E5"/>
                </a:solidFill>
                <a:latin typeface="Consolas" pitchFamily="34" charset="0"/>
                <a:ea typeface="Consolas" pitchFamily="34" charset="-122"/>
                <a:cs typeface="Consolas" pitchFamily="34" charset="-120"/>
              </a:rPr>
              <a:t>&gt; User: "Show me the top 5 products by revenue</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this quarter from AdventureWorks"</a:t>
            </a:r>
            <a:endParaRPr lang="en-US" sz="1200" dirty="0"/>
          </a:p>
        </p:txBody>
      </p:sp>
      <p:sp>
        <p:nvSpPr>
          <p:cNvPr id="9" name="Text 7"/>
          <p:cNvSpPr/>
          <p:nvPr/>
        </p:nvSpPr>
        <p:spPr>
          <a:xfrm>
            <a:off x="822960" y="1764792"/>
            <a:ext cx="7498080" cy="365760"/>
          </a:xfrm>
          <a:prstGeom prst="rect">
            <a:avLst/>
          </a:prstGeom>
          <a:noFill/>
          <a:ln/>
        </p:spPr>
        <p:txBody>
          <a:bodyPr wrap="square" lIns="0" tIns="0" rIns="0" bIns="0" rtlCol="0" anchor="t"/>
          <a:lstStyle/>
          <a:p>
            <a:pPr indent="0" marL="0">
              <a:buNone/>
            </a:pPr>
            <a:endParaRPr lang="en-US" sz="1200" dirty="0"/>
          </a:p>
        </p:txBody>
      </p:sp>
      <p:sp>
        <p:nvSpPr>
          <p:cNvPr id="10" name="Text 8"/>
          <p:cNvSpPr/>
          <p:nvPr/>
        </p:nvSpPr>
        <p:spPr>
          <a:xfrm>
            <a:off x="822960" y="2157984"/>
            <a:ext cx="7498080" cy="365760"/>
          </a:xfrm>
          <a:prstGeom prst="rect">
            <a:avLst/>
          </a:prstGeom>
          <a:noFill/>
          <a:ln/>
        </p:spPr>
        <p:txBody>
          <a:bodyPr wrap="square" lIns="0" tIns="0" rIns="0" bIns="0" rtlCol="0" anchor="t"/>
          <a:lstStyle/>
          <a:p>
            <a:pPr indent="0" marL="0">
              <a:buNone/>
            </a:pPr>
            <a:r>
              <a:rPr lang="en-US" sz="1200" dirty="0">
                <a:solidFill>
                  <a:srgbClr val="3D8ADE"/>
                </a:solidFill>
                <a:latin typeface="Consolas" pitchFamily="34" charset="0"/>
                <a:ea typeface="Consolas" pitchFamily="34" charset="-122"/>
                <a:cs typeface="Consolas" pitchFamily="34" charset="-120"/>
              </a:rPr>
              <a:t>[Agent] Planning: need Sales.SalesOrderDetail +</a:t>
            </a:r>
            <a:endParaRPr lang="en-US" sz="1200" dirty="0"/>
          </a:p>
          <a:p>
            <a:pPr indent="0" marL="0">
              <a:buNone/>
            </a:pPr>
            <a:r>
              <a:rPr lang="en-US" sz="1200" dirty="0">
                <a:solidFill>
                  <a:srgbClr val="3D8ADE"/>
                </a:solidFill>
                <a:latin typeface="Consolas" pitchFamily="34" charset="0"/>
                <a:ea typeface="Consolas" pitchFamily="34" charset="-122"/>
                <a:cs typeface="Consolas" pitchFamily="34" charset="-120"/>
              </a:rPr>
              <a:t>  Production.Product for current quarter...</a:t>
            </a:r>
            <a:endParaRPr lang="en-US" sz="1200" dirty="0"/>
          </a:p>
        </p:txBody>
      </p:sp>
      <p:sp>
        <p:nvSpPr>
          <p:cNvPr id="11" name="Text 9"/>
          <p:cNvSpPr/>
          <p:nvPr/>
        </p:nvSpPr>
        <p:spPr>
          <a:xfrm>
            <a:off x="822960" y="2551176"/>
            <a:ext cx="7498080" cy="365760"/>
          </a:xfrm>
          <a:prstGeom prst="rect">
            <a:avLst/>
          </a:prstGeom>
          <a:noFill/>
          <a:ln/>
        </p:spPr>
        <p:txBody>
          <a:bodyPr wrap="square" lIns="0" tIns="0" rIns="0" bIns="0" rtlCol="0" anchor="t"/>
          <a:lstStyle/>
          <a:p>
            <a:pPr indent="0" marL="0">
              <a:buNone/>
            </a:pPr>
            <a:r>
              <a:rPr lang="en-US" sz="1200" dirty="0">
                <a:solidFill>
                  <a:srgbClr val="2AA876"/>
                </a:solidFill>
                <a:latin typeface="Consolas" pitchFamily="34" charset="0"/>
                <a:ea typeface="Consolas" pitchFamily="34" charset="-122"/>
                <a:cs typeface="Consolas" pitchFamily="34" charset="-120"/>
              </a:rPr>
              <a:t>[MCP]   Tool: query_sql | DB: AdventureWorks</a:t>
            </a:r>
            <a:endParaRPr lang="en-US" sz="1200" dirty="0"/>
          </a:p>
          <a:p>
            <a:pPr indent="0" marL="0">
              <a:buNone/>
            </a:pPr>
            <a:r>
              <a:rPr lang="en-US" sz="1200" dirty="0">
                <a:solidFill>
                  <a:srgbClr val="2AA876"/>
                </a:solidFill>
                <a:latin typeface="Consolas" pitchFamily="34" charset="0"/>
                <a:ea typeface="Consolas" pitchFamily="34" charset="-122"/>
                <a:cs typeface="Consolas" pitchFamily="34" charset="-120"/>
              </a:rPr>
              <a:t>  | Perms: db_datareader ✓</a:t>
            </a:r>
            <a:endParaRPr lang="en-US" sz="1200" dirty="0"/>
          </a:p>
        </p:txBody>
      </p:sp>
      <p:sp>
        <p:nvSpPr>
          <p:cNvPr id="12" name="Text 10"/>
          <p:cNvSpPr/>
          <p:nvPr/>
        </p:nvSpPr>
        <p:spPr>
          <a:xfrm>
            <a:off x="822960" y="2944368"/>
            <a:ext cx="7498080" cy="365760"/>
          </a:xfrm>
          <a:prstGeom prst="rect">
            <a:avLst/>
          </a:prstGeom>
          <a:noFill/>
          <a:ln/>
        </p:spPr>
        <p:txBody>
          <a:bodyPr wrap="square" lIns="0" tIns="0" rIns="0" bIns="0" rtlCol="0" anchor="t"/>
          <a:lstStyle/>
          <a:p>
            <a:pPr indent="0" marL="0">
              <a:buNone/>
            </a:pPr>
            <a:r>
              <a:rPr lang="en-US" sz="1200" dirty="0">
                <a:solidFill>
                  <a:srgbClr val="C8D6E5"/>
                </a:solidFill>
                <a:latin typeface="Consolas" pitchFamily="34" charset="0"/>
                <a:ea typeface="Consolas" pitchFamily="34" charset="-122"/>
                <a:cs typeface="Consolas" pitchFamily="34" charset="-120"/>
              </a:rPr>
              <a:t>[Agent] Executing SELECT query...</a:t>
            </a:r>
            <a:endParaRPr lang="en-US" sz="1200" dirty="0"/>
          </a:p>
        </p:txBody>
      </p:sp>
      <p:sp>
        <p:nvSpPr>
          <p:cNvPr id="13" name="Text 11"/>
          <p:cNvSpPr/>
          <p:nvPr/>
        </p:nvSpPr>
        <p:spPr>
          <a:xfrm>
            <a:off x="822960" y="3337560"/>
            <a:ext cx="7498080" cy="365760"/>
          </a:xfrm>
          <a:prstGeom prst="rect">
            <a:avLst/>
          </a:prstGeom>
          <a:noFill/>
          <a:ln/>
        </p:spPr>
        <p:txBody>
          <a:bodyPr wrap="square" lIns="0" tIns="0" rIns="0" bIns="0" rtlCol="0" anchor="t"/>
          <a:lstStyle/>
          <a:p>
            <a:pPr indent="0" marL="0">
              <a:buNone/>
            </a:pPr>
            <a:r>
              <a:rPr lang="en-US" sz="1200" dirty="0">
                <a:solidFill>
                  <a:srgbClr val="6A9955"/>
                </a:solidFill>
                <a:latin typeface="Consolas" pitchFamily="34" charset="0"/>
                <a:ea typeface="Consolas" pitchFamily="34" charset="-122"/>
                <a:cs typeface="Consolas" pitchFamily="34" charset="-120"/>
              </a:rPr>
              <a:t>[Audit] Action logged: agent_read | 2025-06-15</a:t>
            </a:r>
            <a:endParaRPr lang="en-US" sz="1200" dirty="0"/>
          </a:p>
          <a:p>
            <a:pPr indent="0" marL="0">
              <a:buNone/>
            </a:pPr>
            <a:r>
              <a:rPr lang="en-US" sz="1200" dirty="0">
                <a:solidFill>
                  <a:srgbClr val="6A9955"/>
                </a:solidFill>
                <a:latin typeface="Consolas" pitchFamily="34" charset="0"/>
                <a:ea typeface="Consolas" pitchFamily="34" charset="-122"/>
                <a:cs typeface="Consolas" pitchFamily="34" charset="-120"/>
              </a:rPr>
              <a:t>  10:23:41 | rows_returned: 5</a:t>
            </a:r>
            <a:endParaRPr lang="en-US" sz="1200" dirty="0"/>
          </a:p>
        </p:txBody>
      </p:sp>
      <p:sp>
        <p:nvSpPr>
          <p:cNvPr id="14" name="Text 12"/>
          <p:cNvSpPr/>
          <p:nvPr/>
        </p:nvSpPr>
        <p:spPr>
          <a:xfrm>
            <a:off x="822960" y="3730752"/>
            <a:ext cx="7498080" cy="365760"/>
          </a:xfrm>
          <a:prstGeom prst="rect">
            <a:avLst/>
          </a:prstGeom>
          <a:noFill/>
          <a:ln/>
        </p:spPr>
        <p:txBody>
          <a:bodyPr wrap="square" lIns="0" tIns="0" rIns="0" bIns="0" rtlCol="0" anchor="t"/>
          <a:lstStyle/>
          <a:p>
            <a:pPr indent="0" marL="0">
              <a:buNone/>
            </a:pPr>
            <a:r>
              <a:rPr lang="en-US" sz="1200" dirty="0">
                <a:solidFill>
                  <a:srgbClr val="2AA876"/>
                </a:solidFill>
                <a:latin typeface="Consolas" pitchFamily="34" charset="0"/>
                <a:ea typeface="Consolas" pitchFamily="34" charset="-122"/>
                <a:cs typeface="Consolas" pitchFamily="34" charset="-120"/>
              </a:rPr>
              <a:t>[Agent] Result: Top 5 products returned ✓</a:t>
            </a:r>
            <a:endParaRPr lang="en-US" sz="1200" dirty="0"/>
          </a:p>
        </p:txBody>
      </p:sp>
      <p:sp>
        <p:nvSpPr>
          <p:cNvPr id="15" name="Text 1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13 / 27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Demo</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Demo: Guardrail Blocks a Write</a:t>
            </a:r>
            <a:endParaRPr lang="en-US" sz="2800" dirty="0"/>
          </a:p>
        </p:txBody>
      </p:sp>
      <p:sp>
        <p:nvSpPr>
          <p:cNvPr id="5" name="Shape 3"/>
          <p:cNvSpPr/>
          <p:nvPr/>
        </p:nvSpPr>
        <p:spPr>
          <a:xfrm>
            <a:off x="548640" y="914400"/>
            <a:ext cx="8046720" cy="3474720"/>
          </a:xfrm>
          <a:prstGeom prst="rect">
            <a:avLst/>
          </a:prstGeom>
          <a:solidFill>
            <a:srgbClr val="0D1117"/>
          </a:solidFill>
          <a:ln/>
          <a:effectLst>
            <a:outerShdw sx="100000" sy="100000" kx="0" ky="0" algn="bl" rotWithShape="0" blurRad="76200" dist="25400" dir="8100000">
              <a:srgbClr val="000000">
                <a:alpha val="12000"/>
              </a:srgbClr>
            </a:outerShdw>
          </a:effectLst>
        </p:spPr>
      </p:sp>
      <p:sp>
        <p:nvSpPr>
          <p:cNvPr id="6" name="Shape 4"/>
          <p:cNvSpPr/>
          <p:nvPr/>
        </p:nvSpPr>
        <p:spPr>
          <a:xfrm>
            <a:off x="548640" y="914400"/>
            <a:ext cx="8046720" cy="365760"/>
          </a:xfrm>
          <a:prstGeom prst="rect">
            <a:avLst/>
          </a:prstGeom>
          <a:solidFill>
            <a:srgbClr val="161B22"/>
          </a:solidFill>
          <a:ln/>
        </p:spPr>
      </p:sp>
      <p:sp>
        <p:nvSpPr>
          <p:cNvPr id="7" name="Text 5"/>
          <p:cNvSpPr/>
          <p:nvPr/>
        </p:nvSpPr>
        <p:spPr>
          <a:xfrm>
            <a:off x="731520" y="932688"/>
            <a:ext cx="3657600" cy="329184"/>
          </a:xfrm>
          <a:prstGeom prst="rect">
            <a:avLst/>
          </a:prstGeom>
          <a:noFill/>
          <a:ln/>
        </p:spPr>
        <p:txBody>
          <a:bodyPr wrap="square" rtlCol="0" anchor="ctr"/>
          <a:lstStyle/>
          <a:p>
            <a:pPr indent="0" marL="0">
              <a:buNone/>
            </a:pPr>
            <a:r>
              <a:rPr lang="en-US" sz="1200" dirty="0">
                <a:solidFill>
                  <a:srgbClr val="8B9BB5"/>
                </a:solidFill>
                <a:latin typeface="Consolas" pitchFamily="34" charset="0"/>
                <a:ea typeface="Consolas" pitchFamily="34" charset="-122"/>
                <a:cs typeface="Consolas" pitchFamily="34" charset="-120"/>
              </a:rPr>
              <a:t>●  ●  ●   MCP Agent Terminal</a:t>
            </a:r>
            <a:endParaRPr lang="en-US" sz="1200" dirty="0"/>
          </a:p>
        </p:txBody>
      </p:sp>
      <p:sp>
        <p:nvSpPr>
          <p:cNvPr id="8" name="Text 6"/>
          <p:cNvSpPr/>
          <p:nvPr/>
        </p:nvSpPr>
        <p:spPr>
          <a:xfrm>
            <a:off x="822960" y="1371600"/>
            <a:ext cx="7498080" cy="365760"/>
          </a:xfrm>
          <a:prstGeom prst="rect">
            <a:avLst/>
          </a:prstGeom>
          <a:noFill/>
          <a:ln/>
        </p:spPr>
        <p:txBody>
          <a:bodyPr wrap="square" lIns="0" tIns="0" rIns="0" bIns="0" rtlCol="0" anchor="t"/>
          <a:lstStyle/>
          <a:p>
            <a:pPr indent="0" marL="0">
              <a:buNone/>
            </a:pPr>
            <a:r>
              <a:rPr lang="en-US" sz="1200" dirty="0">
                <a:solidFill>
                  <a:srgbClr val="C8D6E5"/>
                </a:solidFill>
                <a:latin typeface="Consolas" pitchFamily="34" charset="0"/>
                <a:ea typeface="Consolas" pitchFamily="34" charset="-122"/>
                <a:cs typeface="Consolas" pitchFamily="34" charset="-120"/>
              </a:rPr>
              <a:t>&gt; User: "Update the price of product 680</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to $49.99"</a:t>
            </a:r>
            <a:endParaRPr lang="en-US" sz="1200" dirty="0"/>
          </a:p>
        </p:txBody>
      </p:sp>
      <p:sp>
        <p:nvSpPr>
          <p:cNvPr id="9" name="Text 7"/>
          <p:cNvSpPr/>
          <p:nvPr/>
        </p:nvSpPr>
        <p:spPr>
          <a:xfrm>
            <a:off x="822960" y="1764792"/>
            <a:ext cx="7498080" cy="365760"/>
          </a:xfrm>
          <a:prstGeom prst="rect">
            <a:avLst/>
          </a:prstGeom>
          <a:noFill/>
          <a:ln/>
        </p:spPr>
        <p:txBody>
          <a:bodyPr wrap="square" lIns="0" tIns="0" rIns="0" bIns="0" rtlCol="0" anchor="t"/>
          <a:lstStyle/>
          <a:p>
            <a:pPr indent="0" marL="0">
              <a:buNone/>
            </a:pPr>
            <a:endParaRPr lang="en-US" sz="1200" dirty="0"/>
          </a:p>
        </p:txBody>
      </p:sp>
      <p:sp>
        <p:nvSpPr>
          <p:cNvPr id="10" name="Text 8"/>
          <p:cNvSpPr/>
          <p:nvPr/>
        </p:nvSpPr>
        <p:spPr>
          <a:xfrm>
            <a:off x="822960" y="2157984"/>
            <a:ext cx="7498080" cy="365760"/>
          </a:xfrm>
          <a:prstGeom prst="rect">
            <a:avLst/>
          </a:prstGeom>
          <a:noFill/>
          <a:ln/>
        </p:spPr>
        <p:txBody>
          <a:bodyPr wrap="square" lIns="0" tIns="0" rIns="0" bIns="0" rtlCol="0" anchor="t"/>
          <a:lstStyle/>
          <a:p>
            <a:pPr indent="0" marL="0">
              <a:buNone/>
            </a:pPr>
            <a:r>
              <a:rPr lang="en-US" sz="1200" dirty="0">
                <a:solidFill>
                  <a:srgbClr val="3D8ADE"/>
                </a:solidFill>
                <a:latin typeface="Consolas" pitchFamily="34" charset="0"/>
                <a:ea typeface="Consolas" pitchFamily="34" charset="-122"/>
                <a:cs typeface="Consolas" pitchFamily="34" charset="-120"/>
              </a:rPr>
              <a:t>[Agent] Planning: UPDATE Production.Product</a:t>
            </a:r>
            <a:endParaRPr lang="en-US" sz="1200" dirty="0"/>
          </a:p>
          <a:p>
            <a:pPr indent="0" marL="0">
              <a:buNone/>
            </a:pPr>
            <a:r>
              <a:rPr lang="en-US" sz="1200" dirty="0">
                <a:solidFill>
                  <a:srgbClr val="3D8ADE"/>
                </a:solidFill>
                <a:latin typeface="Consolas" pitchFamily="34" charset="0"/>
                <a:ea typeface="Consolas" pitchFamily="34" charset="-122"/>
                <a:cs typeface="Consolas" pitchFamily="34" charset="-120"/>
              </a:rPr>
              <a:t>  SET ListPrice = 49.99 WHERE ProductID = 680</a:t>
            </a:r>
            <a:endParaRPr lang="en-US" sz="1200" dirty="0"/>
          </a:p>
        </p:txBody>
      </p:sp>
      <p:sp>
        <p:nvSpPr>
          <p:cNvPr id="11" name="Text 9"/>
          <p:cNvSpPr/>
          <p:nvPr/>
        </p:nvSpPr>
        <p:spPr>
          <a:xfrm>
            <a:off x="822960" y="2551176"/>
            <a:ext cx="7498080" cy="365760"/>
          </a:xfrm>
          <a:prstGeom prst="rect">
            <a:avLst/>
          </a:prstGeom>
          <a:noFill/>
          <a:ln/>
        </p:spPr>
        <p:txBody>
          <a:bodyPr wrap="square" lIns="0" tIns="0" rIns="0" bIns="0" rtlCol="0" anchor="t"/>
          <a:lstStyle/>
          <a:p>
            <a:pPr indent="0" marL="0">
              <a:buNone/>
            </a:pPr>
            <a:r>
              <a:rPr lang="en-US" sz="1200" dirty="0">
                <a:solidFill>
                  <a:srgbClr val="E74C3C"/>
                </a:solidFill>
                <a:latin typeface="Consolas" pitchFamily="34" charset="0"/>
                <a:ea typeface="Consolas" pitchFamily="34" charset="-122"/>
                <a:cs typeface="Consolas" pitchFamily="34" charset="-120"/>
              </a:rPr>
              <a:t>[MCP]   ✖ BLOCKED: Write operation not permitted</a:t>
            </a:r>
            <a:endParaRPr lang="en-US" sz="1200" dirty="0"/>
          </a:p>
        </p:txBody>
      </p:sp>
      <p:sp>
        <p:nvSpPr>
          <p:cNvPr id="12" name="Text 10"/>
          <p:cNvSpPr/>
          <p:nvPr/>
        </p:nvSpPr>
        <p:spPr>
          <a:xfrm>
            <a:off x="822960" y="2944368"/>
            <a:ext cx="7498080" cy="365760"/>
          </a:xfrm>
          <a:prstGeom prst="rect">
            <a:avLst/>
          </a:prstGeom>
          <a:noFill/>
          <a:ln/>
        </p:spPr>
        <p:txBody>
          <a:bodyPr wrap="square" lIns="0" tIns="0" rIns="0" bIns="0" rtlCol="0" anchor="t"/>
          <a:lstStyle/>
          <a:p>
            <a:pPr indent="0" marL="0">
              <a:buNone/>
            </a:pPr>
            <a:r>
              <a:rPr lang="en-US" sz="1200" dirty="0">
                <a:solidFill>
                  <a:srgbClr val="E74C3C"/>
                </a:solidFill>
                <a:latin typeface="Consolas" pitchFamily="34" charset="0"/>
                <a:ea typeface="Consolas" pitchFamily="34" charset="-122"/>
                <a:cs typeface="Consolas" pitchFamily="34" charset="-120"/>
              </a:rPr>
              <a:t>[MCP]   Policy: agent_readonly | No DML allowed</a:t>
            </a:r>
            <a:endParaRPr lang="en-US" sz="1200" dirty="0"/>
          </a:p>
        </p:txBody>
      </p:sp>
      <p:sp>
        <p:nvSpPr>
          <p:cNvPr id="13" name="Text 11"/>
          <p:cNvSpPr/>
          <p:nvPr/>
        </p:nvSpPr>
        <p:spPr>
          <a:xfrm>
            <a:off x="822960" y="3337560"/>
            <a:ext cx="7498080" cy="365760"/>
          </a:xfrm>
          <a:prstGeom prst="rect">
            <a:avLst/>
          </a:prstGeom>
          <a:noFill/>
          <a:ln/>
        </p:spPr>
        <p:txBody>
          <a:bodyPr wrap="square" lIns="0" tIns="0" rIns="0" bIns="0" rtlCol="0" anchor="t"/>
          <a:lstStyle/>
          <a:p>
            <a:pPr indent="0" marL="0">
              <a:buNone/>
            </a:pPr>
            <a:r>
              <a:rPr lang="en-US" sz="1200" dirty="0">
                <a:solidFill>
                  <a:srgbClr val="E85D24"/>
                </a:solidFill>
                <a:latin typeface="Consolas" pitchFamily="34" charset="0"/>
                <a:ea typeface="Consolas" pitchFamily="34" charset="-122"/>
                <a:cs typeface="Consolas" pitchFamily="34" charset="-120"/>
              </a:rPr>
              <a:t>[Audit] Action logged: agent_write_blocked |</a:t>
            </a:r>
            <a:endParaRPr lang="en-US" sz="1200" dirty="0"/>
          </a:p>
          <a:p>
            <a:pPr indent="0" marL="0">
              <a:buNone/>
            </a:pPr>
            <a:r>
              <a:rPr lang="en-US" sz="1200" dirty="0">
                <a:solidFill>
                  <a:srgbClr val="E85D24"/>
                </a:solidFill>
                <a:latin typeface="Consolas" pitchFamily="34" charset="0"/>
                <a:ea typeface="Consolas" pitchFamily="34" charset="-122"/>
                <a:cs typeface="Consolas" pitchFamily="34" charset="-120"/>
              </a:rPr>
              <a:t>  severity: WARNING | escalated: true</a:t>
            </a:r>
            <a:endParaRPr lang="en-US" sz="1200" dirty="0"/>
          </a:p>
        </p:txBody>
      </p:sp>
      <p:sp>
        <p:nvSpPr>
          <p:cNvPr id="14" name="Text 12"/>
          <p:cNvSpPr/>
          <p:nvPr/>
        </p:nvSpPr>
        <p:spPr>
          <a:xfrm>
            <a:off x="822960" y="3730752"/>
            <a:ext cx="7498080" cy="365760"/>
          </a:xfrm>
          <a:prstGeom prst="rect">
            <a:avLst/>
          </a:prstGeom>
          <a:noFill/>
          <a:ln/>
        </p:spPr>
        <p:txBody>
          <a:bodyPr wrap="square" lIns="0" tIns="0" rIns="0" bIns="0" rtlCol="0" anchor="t"/>
          <a:lstStyle/>
          <a:p>
            <a:pPr indent="0" marL="0">
              <a:buNone/>
            </a:pPr>
            <a:r>
              <a:rPr lang="en-US" sz="1200" dirty="0">
                <a:solidFill>
                  <a:srgbClr val="C8D6E5"/>
                </a:solidFill>
                <a:latin typeface="Consolas" pitchFamily="34" charset="0"/>
                <a:ea typeface="Consolas" pitchFamily="34" charset="-122"/>
                <a:cs typeface="Consolas" pitchFamily="34" charset="-120"/>
              </a:rPr>
              <a:t>[Agent] "I can't modify data directly. This</a:t>
            </a:r>
            <a:endParaRPr lang="en-US" sz="1200" dirty="0"/>
          </a:p>
          <a:p>
            <a:pPr indent="0" marL="0">
              <a:buNone/>
            </a:pPr>
            <a:r>
              <a:rPr lang="en-US" sz="1200" dirty="0">
                <a:solidFill>
                  <a:srgbClr val="C8D6E5"/>
                </a:solidFill>
                <a:latin typeface="Consolas" pitchFamily="34" charset="0"/>
                <a:ea typeface="Consolas" pitchFamily="34" charset="-122"/>
                <a:cs typeface="Consolas" pitchFamily="34" charset="-120"/>
              </a:rPr>
              <a:t>  request has been flagged for DBA review."</a:t>
            </a:r>
            <a:endParaRPr lang="en-US" sz="1200" dirty="0"/>
          </a:p>
        </p:txBody>
      </p:sp>
      <p:sp>
        <p:nvSpPr>
          <p:cNvPr id="15" name="Text 1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14 / 27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Demo</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Demo Takeaways</a:t>
            </a:r>
            <a:endParaRPr lang="en-US" sz="3000" dirty="0"/>
          </a:p>
        </p:txBody>
      </p:sp>
      <p:sp>
        <p:nvSpPr>
          <p:cNvPr id="5" name="Shape 3"/>
          <p:cNvSpPr/>
          <p:nvPr/>
        </p:nvSpPr>
        <p:spPr>
          <a:xfrm>
            <a:off x="548640" y="1051560"/>
            <a:ext cx="8046720" cy="594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777240" y="1143000"/>
            <a:ext cx="411480" cy="411480"/>
          </a:xfrm>
          <a:prstGeom prst="rect">
            <a:avLst/>
          </a:prstGeom>
        </p:spPr>
      </p:pic>
      <p:sp>
        <p:nvSpPr>
          <p:cNvPr id="7" name="Text 4"/>
          <p:cNvSpPr/>
          <p:nvPr/>
        </p:nvSpPr>
        <p:spPr>
          <a:xfrm>
            <a:off x="1371600" y="1051560"/>
            <a:ext cx="7040880" cy="594360"/>
          </a:xfrm>
          <a:prstGeom prst="rect">
            <a:avLst/>
          </a:prstGeom>
          <a:noFill/>
          <a:ln/>
        </p:spPr>
        <p:txBody>
          <a:bodyPr wrap="square" lIns="0" tIns="0" rIns="0" bIns="0" rtlCol="0" anchor="ctr"/>
          <a:lstStyle/>
          <a:p>
            <a:pPr indent="0" marL="0">
              <a:buNone/>
            </a:pPr>
            <a:r>
              <a:rPr lang="en-US" sz="1500" dirty="0">
                <a:solidFill>
                  <a:srgbClr val="0D2B4E"/>
                </a:solidFill>
                <a:latin typeface="Nunito Sans" pitchFamily="34" charset="0"/>
                <a:ea typeface="Nunito Sans" pitchFamily="34" charset="-122"/>
                <a:cs typeface="Nunito Sans" pitchFamily="34" charset="-120"/>
              </a:rPr>
              <a:t>Agent access is constrained by MCP tool definitions—not by the LLM's judgment</a:t>
            </a:r>
            <a:endParaRPr lang="en-US" sz="1500" dirty="0"/>
          </a:p>
        </p:txBody>
      </p:sp>
      <p:sp>
        <p:nvSpPr>
          <p:cNvPr id="8" name="Shape 5"/>
          <p:cNvSpPr/>
          <p:nvPr/>
        </p:nvSpPr>
        <p:spPr>
          <a:xfrm>
            <a:off x="548640" y="1783080"/>
            <a:ext cx="8046720" cy="594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777240" y="1874520"/>
            <a:ext cx="411480" cy="411480"/>
          </a:xfrm>
          <a:prstGeom prst="rect">
            <a:avLst/>
          </a:prstGeom>
        </p:spPr>
      </p:pic>
      <p:sp>
        <p:nvSpPr>
          <p:cNvPr id="10" name="Text 6"/>
          <p:cNvSpPr/>
          <p:nvPr/>
        </p:nvSpPr>
        <p:spPr>
          <a:xfrm>
            <a:off x="1371600" y="1783080"/>
            <a:ext cx="7040880" cy="594360"/>
          </a:xfrm>
          <a:prstGeom prst="rect">
            <a:avLst/>
          </a:prstGeom>
          <a:noFill/>
          <a:ln/>
        </p:spPr>
        <p:txBody>
          <a:bodyPr wrap="square" lIns="0" tIns="0" rIns="0" bIns="0" rtlCol="0" anchor="ctr"/>
          <a:lstStyle/>
          <a:p>
            <a:pPr indent="0" marL="0">
              <a:buNone/>
            </a:pPr>
            <a:r>
              <a:rPr lang="en-US" sz="1500" dirty="0">
                <a:solidFill>
                  <a:srgbClr val="0D2B4E"/>
                </a:solidFill>
                <a:latin typeface="Nunito Sans" pitchFamily="34" charset="0"/>
                <a:ea typeface="Nunito Sans" pitchFamily="34" charset="-122"/>
                <a:cs typeface="Nunito Sans" pitchFamily="34" charset="-120"/>
              </a:rPr>
              <a:t>SQL Server's existing security (RLS, audit, permissions) works as-is</a:t>
            </a:r>
            <a:endParaRPr lang="en-US" sz="1500" dirty="0"/>
          </a:p>
        </p:txBody>
      </p:sp>
      <p:sp>
        <p:nvSpPr>
          <p:cNvPr id="11" name="Shape 7"/>
          <p:cNvSpPr/>
          <p:nvPr/>
        </p:nvSpPr>
        <p:spPr>
          <a:xfrm>
            <a:off x="548640" y="2514600"/>
            <a:ext cx="8046720" cy="594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2" name="Image 2" descr="preencoded.png">    </p:cNvPr>
          <p:cNvPicPr>
            <a:picLocks noChangeAspect="1"/>
          </p:cNvPicPr>
          <p:nvPr/>
        </p:nvPicPr>
        <p:blipFill>
          <a:blip r:embed="rId3"/>
          <a:stretch>
            <a:fillRect/>
          </a:stretch>
        </p:blipFill>
        <p:spPr>
          <a:xfrm>
            <a:off x="777240" y="2606040"/>
            <a:ext cx="411480" cy="411480"/>
          </a:xfrm>
          <a:prstGeom prst="rect">
            <a:avLst/>
          </a:prstGeom>
        </p:spPr>
      </p:pic>
      <p:sp>
        <p:nvSpPr>
          <p:cNvPr id="13" name="Text 8"/>
          <p:cNvSpPr/>
          <p:nvPr/>
        </p:nvSpPr>
        <p:spPr>
          <a:xfrm>
            <a:off x="1371600" y="2514600"/>
            <a:ext cx="7040880" cy="594360"/>
          </a:xfrm>
          <a:prstGeom prst="rect">
            <a:avLst/>
          </a:prstGeom>
          <a:noFill/>
          <a:ln/>
        </p:spPr>
        <p:txBody>
          <a:bodyPr wrap="square" lIns="0" tIns="0" rIns="0" bIns="0" rtlCol="0" anchor="ctr"/>
          <a:lstStyle/>
          <a:p>
            <a:pPr indent="0" marL="0">
              <a:buNone/>
            </a:pPr>
            <a:r>
              <a:rPr lang="en-US" sz="1500" dirty="0">
                <a:solidFill>
                  <a:srgbClr val="0D2B4E"/>
                </a:solidFill>
                <a:latin typeface="Nunito Sans" pitchFamily="34" charset="0"/>
                <a:ea typeface="Nunito Sans" pitchFamily="34" charset="-122"/>
                <a:cs typeface="Nunito Sans" pitchFamily="34" charset="-120"/>
              </a:rPr>
              <a:t>Write operations require explicit policy approval, not just agent intent</a:t>
            </a:r>
            <a:endParaRPr lang="en-US" sz="1500" dirty="0"/>
          </a:p>
        </p:txBody>
      </p:sp>
      <p:sp>
        <p:nvSpPr>
          <p:cNvPr id="14" name="Shape 9"/>
          <p:cNvSpPr/>
          <p:nvPr/>
        </p:nvSpPr>
        <p:spPr>
          <a:xfrm>
            <a:off x="548640" y="3246120"/>
            <a:ext cx="8046720" cy="594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5" name="Image 3" descr="preencoded.png">    </p:cNvPr>
          <p:cNvPicPr>
            <a:picLocks noChangeAspect="1"/>
          </p:cNvPicPr>
          <p:nvPr/>
        </p:nvPicPr>
        <p:blipFill>
          <a:blip r:embed="rId4"/>
          <a:stretch>
            <a:fillRect/>
          </a:stretch>
        </p:blipFill>
        <p:spPr>
          <a:xfrm>
            <a:off x="777240" y="3337560"/>
            <a:ext cx="411480" cy="411480"/>
          </a:xfrm>
          <a:prstGeom prst="rect">
            <a:avLst/>
          </a:prstGeom>
        </p:spPr>
      </p:pic>
      <p:sp>
        <p:nvSpPr>
          <p:cNvPr id="16" name="Text 10"/>
          <p:cNvSpPr/>
          <p:nvPr/>
        </p:nvSpPr>
        <p:spPr>
          <a:xfrm>
            <a:off x="1371600" y="3246120"/>
            <a:ext cx="7040880" cy="594360"/>
          </a:xfrm>
          <a:prstGeom prst="rect">
            <a:avLst/>
          </a:prstGeom>
          <a:noFill/>
          <a:ln/>
        </p:spPr>
        <p:txBody>
          <a:bodyPr wrap="square" lIns="0" tIns="0" rIns="0" bIns="0" rtlCol="0" anchor="ctr"/>
          <a:lstStyle/>
          <a:p>
            <a:pPr indent="0" marL="0">
              <a:buNone/>
            </a:pPr>
            <a:r>
              <a:rPr lang="en-US" sz="1500" dirty="0">
                <a:solidFill>
                  <a:srgbClr val="0D2B4E"/>
                </a:solidFill>
                <a:latin typeface="Nunito Sans" pitchFamily="34" charset="0"/>
                <a:ea typeface="Nunito Sans" pitchFamily="34" charset="-122"/>
                <a:cs typeface="Nunito Sans" pitchFamily="34" charset="-120"/>
              </a:rPr>
              <a:t>Every action—success or failure—is logged and auditable</a:t>
            </a:r>
            <a:endParaRPr lang="en-US" sz="1500" dirty="0"/>
          </a:p>
        </p:txBody>
      </p:sp>
      <p:sp>
        <p:nvSpPr>
          <p:cNvPr id="17" name="Shape 11"/>
          <p:cNvSpPr/>
          <p:nvPr/>
        </p:nvSpPr>
        <p:spPr>
          <a:xfrm>
            <a:off x="548640" y="3977640"/>
            <a:ext cx="8046720" cy="594360"/>
          </a:xfrm>
          <a:prstGeom prst="rect">
            <a:avLst/>
          </a:prstGeom>
          <a:solidFill>
            <a:srgbClr val="FFFFFF"/>
          </a:solidFill>
          <a:ln/>
          <a:effectLst>
            <a:outerShdw sx="100000" sy="100000" kx="0" ky="0" algn="bl" rotWithShape="0" blurRad="76200" dist="25400" dir="8100000">
              <a:srgbClr val="000000">
                <a:alpha val="12000"/>
              </a:srgbClr>
            </a:outerShdw>
          </a:effectLst>
        </p:spPr>
      </p:sp>
      <p:pic>
        <p:nvPicPr>
          <p:cNvPr id="18" name="Image 4" descr="preencoded.png">    </p:cNvPr>
          <p:cNvPicPr>
            <a:picLocks noChangeAspect="1"/>
          </p:cNvPicPr>
          <p:nvPr/>
        </p:nvPicPr>
        <p:blipFill>
          <a:blip r:embed="rId5"/>
          <a:stretch>
            <a:fillRect/>
          </a:stretch>
        </p:blipFill>
        <p:spPr>
          <a:xfrm>
            <a:off x="777240" y="4069080"/>
            <a:ext cx="411480" cy="411480"/>
          </a:xfrm>
          <a:prstGeom prst="rect">
            <a:avLst/>
          </a:prstGeom>
        </p:spPr>
      </p:pic>
      <p:sp>
        <p:nvSpPr>
          <p:cNvPr id="19" name="Text 12"/>
          <p:cNvSpPr/>
          <p:nvPr/>
        </p:nvSpPr>
        <p:spPr>
          <a:xfrm>
            <a:off x="1371600" y="3977640"/>
            <a:ext cx="7040880" cy="594360"/>
          </a:xfrm>
          <a:prstGeom prst="rect">
            <a:avLst/>
          </a:prstGeom>
          <a:noFill/>
          <a:ln/>
        </p:spPr>
        <p:txBody>
          <a:bodyPr wrap="square" lIns="0" tIns="0" rIns="0" bIns="0" rtlCol="0" anchor="ctr"/>
          <a:lstStyle/>
          <a:p>
            <a:pPr indent="0" marL="0">
              <a:buNone/>
            </a:pPr>
            <a:r>
              <a:rPr lang="en-US" sz="1500" dirty="0">
                <a:solidFill>
                  <a:srgbClr val="0D2B4E"/>
                </a:solidFill>
                <a:latin typeface="Nunito Sans" pitchFamily="34" charset="0"/>
                <a:ea typeface="Nunito Sans" pitchFamily="34" charset="-122"/>
                <a:cs typeface="Nunito Sans" pitchFamily="34" charset="-120"/>
              </a:rPr>
              <a:t>The LLM can still hallucinate queries. Guardrails catch them before execution.</a:t>
            </a:r>
            <a:endParaRPr lang="en-US" sz="1500" dirty="0"/>
          </a:p>
        </p:txBody>
      </p:sp>
      <p:sp>
        <p:nvSpPr>
          <p:cNvPr id="20" name="Text 1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15 / 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4</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Compliance, Auditability</a:t>
            </a:r>
            <a:endParaRPr lang="en-US" sz="3800" dirty="0"/>
          </a:p>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&amp; Guardrails</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16 / 27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Compliance &amp; Guardrails</a:t>
            </a:r>
            <a:endParaRPr lang="en-US" sz="1000" dirty="0"/>
          </a:p>
        </p:txBody>
      </p:sp>
      <p:sp>
        <p:nvSpPr>
          <p:cNvPr id="4" name="Text 2"/>
          <p:cNvSpPr/>
          <p:nvPr/>
        </p:nvSpPr>
        <p:spPr>
          <a:xfrm>
            <a:off x="548640" y="182880"/>
            <a:ext cx="7772400" cy="54864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Defense in Depth for Agent Access</a:t>
            </a:r>
            <a:endParaRPr lang="en-US" sz="2800" dirty="0"/>
          </a:p>
        </p:txBody>
      </p:sp>
      <p:pic>
        <p:nvPicPr>
          <p:cNvPr id="5" name="Image 0" descr="preencoded.png">    </p:cNvPr>
          <p:cNvPicPr>
            <a:picLocks noChangeAspect="1"/>
          </p:cNvPicPr>
          <p:nvPr/>
        </p:nvPicPr>
        <p:blipFill>
          <a:blip r:embed="rId1"/>
          <a:stretch>
            <a:fillRect/>
          </a:stretch>
        </p:blipFill>
        <p:spPr>
          <a:xfrm>
            <a:off x="182880" y="822960"/>
            <a:ext cx="8778240" cy="3931920"/>
          </a:xfrm>
          <a:prstGeom prst="rect">
            <a:avLst/>
          </a:prstGeom>
        </p:spPr>
      </p:pic>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17 / 27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Compliance &amp; Guardrails</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Regulatory Compliance Checklist</a:t>
            </a:r>
            <a:endParaRPr lang="en-US" sz="2800" dirty="0"/>
          </a:p>
        </p:txBody>
      </p:sp>
      <p:sp>
        <p:nvSpPr>
          <p:cNvPr id="5" name="Shape 3"/>
          <p:cNvSpPr/>
          <p:nvPr/>
        </p:nvSpPr>
        <p:spPr>
          <a:xfrm>
            <a:off x="548640" y="100584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05840"/>
            <a:ext cx="64008" cy="822960"/>
          </a:xfrm>
          <a:prstGeom prst="rect">
            <a:avLst/>
          </a:prstGeom>
          <a:solidFill>
            <a:srgbClr val="146BCD"/>
          </a:solidFill>
          <a:ln/>
        </p:spPr>
      </p:sp>
      <p:pic>
        <p:nvPicPr>
          <p:cNvPr id="7" name="Image 0" descr="preencoded.png">    </p:cNvPr>
          <p:cNvPicPr>
            <a:picLocks noChangeAspect="1"/>
          </p:cNvPicPr>
          <p:nvPr/>
        </p:nvPicPr>
        <p:blipFill>
          <a:blip r:embed="rId1"/>
          <a:stretch>
            <a:fillRect/>
          </a:stretch>
        </p:blipFill>
        <p:spPr>
          <a:xfrm>
            <a:off x="822960" y="1188720"/>
            <a:ext cx="411480" cy="411480"/>
          </a:xfrm>
          <a:prstGeom prst="rect">
            <a:avLst/>
          </a:prstGeom>
        </p:spPr>
      </p:pic>
      <p:sp>
        <p:nvSpPr>
          <p:cNvPr id="8" name="Text 5"/>
          <p:cNvSpPr/>
          <p:nvPr/>
        </p:nvSpPr>
        <p:spPr>
          <a:xfrm>
            <a:off x="1417320" y="1024128"/>
            <a:ext cx="1280160" cy="402336"/>
          </a:xfrm>
          <a:prstGeom prst="rect">
            <a:avLst/>
          </a:prstGeom>
          <a:noFill/>
          <a:ln/>
        </p:spPr>
        <p:txBody>
          <a:bodyPr wrap="square" lIns="0" tIns="0" rIns="0" bIns="0" rtlCol="0" anchor="ctr"/>
          <a:lstStyle/>
          <a:p>
            <a:pPr indent="0" marL="0">
              <a:buNone/>
            </a:pPr>
            <a:r>
              <a:rPr lang="en-US" sz="1800" b="1" dirty="0">
                <a:solidFill>
                  <a:srgbClr val="E85D24"/>
                </a:solidFill>
                <a:latin typeface="Inter" pitchFamily="34" charset="0"/>
                <a:ea typeface="Inter" pitchFamily="34" charset="-122"/>
                <a:cs typeface="Inter" pitchFamily="34" charset="-120"/>
              </a:rPr>
              <a:t>HIPAA</a:t>
            </a:r>
            <a:endParaRPr lang="en-US" sz="1800" dirty="0"/>
          </a:p>
        </p:txBody>
      </p:sp>
      <p:sp>
        <p:nvSpPr>
          <p:cNvPr id="9" name="Text 6"/>
          <p:cNvSpPr/>
          <p:nvPr/>
        </p:nvSpPr>
        <p:spPr>
          <a:xfrm>
            <a:off x="2651760" y="1005840"/>
            <a:ext cx="5760720" cy="822960"/>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Audit all PHI access, minimum necessary principle, BAA with AI vendor</a:t>
            </a:r>
            <a:endParaRPr lang="en-US" sz="1400" dirty="0"/>
          </a:p>
        </p:txBody>
      </p:sp>
      <p:sp>
        <p:nvSpPr>
          <p:cNvPr id="10" name="Shape 7"/>
          <p:cNvSpPr/>
          <p:nvPr/>
        </p:nvSpPr>
        <p:spPr>
          <a:xfrm>
            <a:off x="548640" y="196596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548640" y="1965960"/>
            <a:ext cx="64008" cy="822960"/>
          </a:xfrm>
          <a:prstGeom prst="rect">
            <a:avLst/>
          </a:prstGeom>
          <a:solidFill>
            <a:srgbClr val="146BCD"/>
          </a:solidFill>
          <a:ln/>
        </p:spPr>
      </p:sp>
      <p:pic>
        <p:nvPicPr>
          <p:cNvPr id="12" name="Image 1" descr="preencoded.png">    </p:cNvPr>
          <p:cNvPicPr>
            <a:picLocks noChangeAspect="1"/>
          </p:cNvPicPr>
          <p:nvPr/>
        </p:nvPicPr>
        <p:blipFill>
          <a:blip r:embed="rId2"/>
          <a:stretch>
            <a:fillRect/>
          </a:stretch>
        </p:blipFill>
        <p:spPr>
          <a:xfrm>
            <a:off x="822960" y="2148840"/>
            <a:ext cx="411480" cy="411480"/>
          </a:xfrm>
          <a:prstGeom prst="rect">
            <a:avLst/>
          </a:prstGeom>
        </p:spPr>
      </p:pic>
      <p:sp>
        <p:nvSpPr>
          <p:cNvPr id="13" name="Text 9"/>
          <p:cNvSpPr/>
          <p:nvPr/>
        </p:nvSpPr>
        <p:spPr>
          <a:xfrm>
            <a:off x="1417320" y="1984248"/>
            <a:ext cx="1280160" cy="402336"/>
          </a:xfrm>
          <a:prstGeom prst="rect">
            <a:avLst/>
          </a:prstGeom>
          <a:noFill/>
          <a:ln/>
        </p:spPr>
        <p:txBody>
          <a:bodyPr wrap="square" lIns="0" tIns="0" rIns="0" bIns="0" rtlCol="0" anchor="ctr"/>
          <a:lstStyle/>
          <a:p>
            <a:pPr indent="0" marL="0">
              <a:buNone/>
            </a:pPr>
            <a:r>
              <a:rPr lang="en-US" sz="1800" b="1" dirty="0">
                <a:solidFill>
                  <a:srgbClr val="E85D24"/>
                </a:solidFill>
                <a:latin typeface="Inter" pitchFamily="34" charset="0"/>
                <a:ea typeface="Inter" pitchFamily="34" charset="-122"/>
                <a:cs typeface="Inter" pitchFamily="34" charset="-120"/>
              </a:rPr>
              <a:t>SOX</a:t>
            </a:r>
            <a:endParaRPr lang="en-US" sz="1800" dirty="0"/>
          </a:p>
        </p:txBody>
      </p:sp>
      <p:sp>
        <p:nvSpPr>
          <p:cNvPr id="14" name="Text 10"/>
          <p:cNvSpPr/>
          <p:nvPr/>
        </p:nvSpPr>
        <p:spPr>
          <a:xfrm>
            <a:off x="2651760" y="1965960"/>
            <a:ext cx="5760720" cy="822960"/>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Change management controls, segregation of duties, complete audit trail</a:t>
            </a:r>
            <a:endParaRPr lang="en-US" sz="1400" dirty="0"/>
          </a:p>
        </p:txBody>
      </p:sp>
      <p:sp>
        <p:nvSpPr>
          <p:cNvPr id="15" name="Shape 11"/>
          <p:cNvSpPr/>
          <p:nvPr/>
        </p:nvSpPr>
        <p:spPr>
          <a:xfrm>
            <a:off x="548640" y="292608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548640" y="2926080"/>
            <a:ext cx="64008" cy="822960"/>
          </a:xfrm>
          <a:prstGeom prst="rect">
            <a:avLst/>
          </a:prstGeom>
          <a:solidFill>
            <a:srgbClr val="146BCD"/>
          </a:solidFill>
          <a:ln/>
        </p:spPr>
      </p:sp>
      <p:pic>
        <p:nvPicPr>
          <p:cNvPr id="17" name="Image 2" descr="preencoded.png">    </p:cNvPr>
          <p:cNvPicPr>
            <a:picLocks noChangeAspect="1"/>
          </p:cNvPicPr>
          <p:nvPr/>
        </p:nvPicPr>
        <p:blipFill>
          <a:blip r:embed="rId3"/>
          <a:stretch>
            <a:fillRect/>
          </a:stretch>
        </p:blipFill>
        <p:spPr>
          <a:xfrm>
            <a:off x="822960" y="3108960"/>
            <a:ext cx="411480" cy="411480"/>
          </a:xfrm>
          <a:prstGeom prst="rect">
            <a:avLst/>
          </a:prstGeom>
        </p:spPr>
      </p:pic>
      <p:sp>
        <p:nvSpPr>
          <p:cNvPr id="18" name="Text 13"/>
          <p:cNvSpPr/>
          <p:nvPr/>
        </p:nvSpPr>
        <p:spPr>
          <a:xfrm>
            <a:off x="1417320" y="2944368"/>
            <a:ext cx="1280160" cy="402336"/>
          </a:xfrm>
          <a:prstGeom prst="rect">
            <a:avLst/>
          </a:prstGeom>
          <a:noFill/>
          <a:ln/>
        </p:spPr>
        <p:txBody>
          <a:bodyPr wrap="square" lIns="0" tIns="0" rIns="0" bIns="0" rtlCol="0" anchor="ctr"/>
          <a:lstStyle/>
          <a:p>
            <a:pPr indent="0" marL="0">
              <a:buNone/>
            </a:pPr>
            <a:r>
              <a:rPr lang="en-US" sz="1800" b="1" dirty="0">
                <a:solidFill>
                  <a:srgbClr val="E85D24"/>
                </a:solidFill>
                <a:latin typeface="Inter" pitchFamily="34" charset="0"/>
                <a:ea typeface="Inter" pitchFamily="34" charset="-122"/>
                <a:cs typeface="Inter" pitchFamily="34" charset="-120"/>
              </a:rPr>
              <a:t>GDPR</a:t>
            </a:r>
            <a:endParaRPr lang="en-US" sz="1800" dirty="0"/>
          </a:p>
        </p:txBody>
      </p:sp>
      <p:sp>
        <p:nvSpPr>
          <p:cNvPr id="19" name="Text 14"/>
          <p:cNvSpPr/>
          <p:nvPr/>
        </p:nvSpPr>
        <p:spPr>
          <a:xfrm>
            <a:off x="2651760" y="2926080"/>
            <a:ext cx="5760720" cy="822960"/>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Data minimization, right to explanation, no automated decisions without consent</a:t>
            </a:r>
            <a:endParaRPr lang="en-US" sz="1400" dirty="0"/>
          </a:p>
        </p:txBody>
      </p:sp>
      <p:sp>
        <p:nvSpPr>
          <p:cNvPr id="20" name="Shape 15"/>
          <p:cNvSpPr/>
          <p:nvPr/>
        </p:nvSpPr>
        <p:spPr>
          <a:xfrm>
            <a:off x="548640" y="3886200"/>
            <a:ext cx="804672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548640" y="3886200"/>
            <a:ext cx="64008" cy="822960"/>
          </a:xfrm>
          <a:prstGeom prst="rect">
            <a:avLst/>
          </a:prstGeom>
          <a:solidFill>
            <a:srgbClr val="146BCD"/>
          </a:solidFill>
          <a:ln/>
        </p:spPr>
      </p:sp>
      <p:pic>
        <p:nvPicPr>
          <p:cNvPr id="22" name="Image 3" descr="preencoded.png">    </p:cNvPr>
          <p:cNvPicPr>
            <a:picLocks noChangeAspect="1"/>
          </p:cNvPicPr>
          <p:nvPr/>
        </p:nvPicPr>
        <p:blipFill>
          <a:blip r:embed="rId4"/>
          <a:stretch>
            <a:fillRect/>
          </a:stretch>
        </p:blipFill>
        <p:spPr>
          <a:xfrm>
            <a:off x="822960" y="4069080"/>
            <a:ext cx="411480" cy="411480"/>
          </a:xfrm>
          <a:prstGeom prst="rect">
            <a:avLst/>
          </a:prstGeom>
        </p:spPr>
      </p:pic>
      <p:sp>
        <p:nvSpPr>
          <p:cNvPr id="23" name="Text 17"/>
          <p:cNvSpPr/>
          <p:nvPr/>
        </p:nvSpPr>
        <p:spPr>
          <a:xfrm>
            <a:off x="1417320" y="3904488"/>
            <a:ext cx="1280160" cy="402336"/>
          </a:xfrm>
          <a:prstGeom prst="rect">
            <a:avLst/>
          </a:prstGeom>
          <a:noFill/>
          <a:ln/>
        </p:spPr>
        <p:txBody>
          <a:bodyPr wrap="square" lIns="0" tIns="0" rIns="0" bIns="0" rtlCol="0" anchor="ctr"/>
          <a:lstStyle/>
          <a:p>
            <a:pPr indent="0" marL="0">
              <a:buNone/>
            </a:pPr>
            <a:r>
              <a:rPr lang="en-US" sz="1800" b="1" dirty="0">
                <a:solidFill>
                  <a:srgbClr val="E85D24"/>
                </a:solidFill>
                <a:latin typeface="Inter" pitchFamily="34" charset="0"/>
                <a:ea typeface="Inter" pitchFamily="34" charset="-122"/>
                <a:cs typeface="Inter" pitchFamily="34" charset="-120"/>
              </a:rPr>
              <a:t>PCI-DSS</a:t>
            </a:r>
            <a:endParaRPr lang="en-US" sz="1800" dirty="0"/>
          </a:p>
        </p:txBody>
      </p:sp>
      <p:sp>
        <p:nvSpPr>
          <p:cNvPr id="24" name="Text 18"/>
          <p:cNvSpPr/>
          <p:nvPr/>
        </p:nvSpPr>
        <p:spPr>
          <a:xfrm>
            <a:off x="2651760" y="3886200"/>
            <a:ext cx="5760720" cy="822960"/>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No cardholder data in agent context, network segmentation, access logging</a:t>
            </a:r>
            <a:endParaRPr lang="en-US" sz="1400" dirty="0"/>
          </a:p>
        </p:txBody>
      </p:sp>
      <p:sp>
        <p:nvSpPr>
          <p:cNvPr id="25" name="Text 19"/>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18 / 27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Compliance &amp; Guardrails</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Building an Agent Audit Trail</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8046720" cy="914400"/>
        </p:xfrm>
        <a:graphic>
          <a:graphicData uri="http://schemas.openxmlformats.org/drawingml/2006/table">
            <a:tbl>
              <a:tblPr/>
              <a:tblGrid>
                <a:gridCol w="2560320"/>
                <a:gridCol w="2286000"/>
                <a:gridCol w="3200400"/>
              </a:tblGrid>
              <a:tr h="384048">
                <a:tc>
                  <a:txBody>
                    <a:bodyPr/>
                    <a:lstStyle/>
                    <a:p>
                      <a:pPr indent="0" marL="0">
                        <a:buNone/>
                      </a:pPr>
                      <a:r>
                        <a:rPr lang="en-US" sz="1400" b="1" dirty="0">
                          <a:solidFill>
                            <a:srgbClr val="FFFFFF"/>
                          </a:solidFill>
                          <a:latin typeface="Inter" pitchFamily="34" charset="0"/>
                          <a:ea typeface="Inter" pitchFamily="34" charset="-122"/>
                          <a:cs typeface="Inter" pitchFamily="34" charset="-120"/>
                        </a:rPr>
                        <a:t>What to Log</a:t>
                      </a:r>
                      <a:endParaRPr lang="en-US" sz="1400" dirty="0">
                        <a:latin typeface="Inter" charset="0"/>
                        <a:ea typeface="Inter" charset="0"/>
                        <a:cs typeface="Inter"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0D2B4E"/>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Where</a:t>
                      </a:r>
                      <a:endParaRPr lang="en-US" sz="1400" dirty="0">
                        <a:latin typeface="Inter" charset="0"/>
                        <a:ea typeface="Inter" charset="0"/>
                        <a:cs typeface="Inter"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0D2B4E"/>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Why</a:t>
                      </a:r>
                      <a:endParaRPr lang="en-US" sz="1400" dirty="0">
                        <a:latin typeface="Inter" charset="0"/>
                        <a:ea typeface="Inter" charset="0"/>
                        <a:cs typeface="Inter"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0D2B4E"/>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Agent identity &amp; session ID</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MCP server log</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Correlate actions to specific agent instance</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Natural language request (original)</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Application log</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Understand user intent for forensics</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Generated SQL (exact text)</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SQL Server Audit / XEvents</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Verify what actually ran vs. intended</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Rows accessed / modified (count)</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SQL Server Audit</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Detect over-broad queries</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Blocked actions + reason</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MCP server log + alert</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Compliance evidence; threat detection</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4F6FA"/>
                    </a:solidFill>
                  </a:tcPr>
                </a:tc>
              </a:tr>
              <a:tr h="475488">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Execution duration &amp; resource usage</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SQL Server XEvents</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indent="0" marL="0">
                        <a:buNone/>
                      </a:pPr>
                      <a:r>
                        <a:rPr lang="en-US" sz="1200" dirty="0">
                          <a:solidFill>
                            <a:srgbClr val="0D2B4E"/>
                          </a:solidFill>
                          <a:latin typeface="Nunito Sans" pitchFamily="34" charset="0"/>
                          <a:ea typeface="Nunito Sans" pitchFamily="34" charset="-122"/>
                          <a:cs typeface="Nunito Sans" pitchFamily="34" charset="-120"/>
                        </a:rPr>
                        <a:t>Performance impact monitoring</a:t>
                      </a:r>
                      <a:endParaRPr lang="en-US" sz="1200" dirty="0">
                        <a:latin typeface="Nunito Sans" charset="0"/>
                        <a:ea typeface="Nunito Sans" charset="0"/>
                        <a:cs typeface="Nunito Sans" charset="0"/>
                      </a:endParaRPr>
                    </a:p>
                  </a:txBody>
                  <a:tcPr marL="91440" marR="91440" marT="45720" marB="45720">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19 / 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5</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The DBA Role, Evolved</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20 / 27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The DBA Role, Evolved</a:t>
            </a:r>
            <a:endParaRPr lang="en-US" sz="1000" dirty="0"/>
          </a:p>
        </p:txBody>
      </p:sp>
      <p:sp>
        <p:nvSpPr>
          <p:cNvPr id="4" name="Text 2"/>
          <p:cNvSpPr/>
          <p:nvPr/>
        </p:nvSpPr>
        <p:spPr>
          <a:xfrm>
            <a:off x="548640" y="182880"/>
            <a:ext cx="7772400" cy="594360"/>
          </a:xfrm>
          <a:prstGeom prst="rect">
            <a:avLst/>
          </a:prstGeom>
          <a:noFill/>
          <a:ln/>
        </p:spPr>
        <p:txBody>
          <a:bodyPr wrap="square" lIns="0" tIns="0" rIns="0" bIns="0" rtlCol="0" anchor="ctr"/>
          <a:lstStyle/>
          <a:p>
            <a:pPr indent="0" marL="0">
              <a:buNone/>
            </a:pPr>
            <a:r>
              <a:rPr lang="en-US" sz="2800" b="1" dirty="0">
                <a:solidFill>
                  <a:srgbClr val="0D2B4E"/>
                </a:solidFill>
                <a:latin typeface="Inter" pitchFamily="34" charset="0"/>
                <a:ea typeface="Inter" pitchFamily="34" charset="-122"/>
                <a:cs typeface="Inter" pitchFamily="34" charset="-120"/>
              </a:rPr>
              <a:t>From Gatekeeper to Agent Architect</a:t>
            </a:r>
            <a:endParaRPr lang="en-US" sz="2800" dirty="0"/>
          </a:p>
        </p:txBody>
      </p:sp>
      <p:pic>
        <p:nvPicPr>
          <p:cNvPr id="5" name="Image 0" descr="preencoded.png">    </p:cNvPr>
          <p:cNvPicPr>
            <a:picLocks noChangeAspect="1"/>
          </p:cNvPicPr>
          <p:nvPr/>
        </p:nvPicPr>
        <p:blipFill>
          <a:blip r:embed="rId1"/>
          <a:stretch>
            <a:fillRect/>
          </a:stretch>
        </p:blipFill>
        <p:spPr>
          <a:xfrm>
            <a:off x="182880" y="914400"/>
            <a:ext cx="8778240" cy="3566160"/>
          </a:xfrm>
          <a:prstGeom prst="rect">
            <a:avLst/>
          </a:prstGeom>
        </p:spPr>
      </p:pic>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21 / 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The DBA Role, Evolved</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New Skills to Develop</a:t>
            </a:r>
            <a:endParaRPr lang="en-US" sz="3000" dirty="0"/>
          </a:p>
        </p:txBody>
      </p:sp>
      <p:sp>
        <p:nvSpPr>
          <p:cNvPr id="5" name="Shape 3"/>
          <p:cNvSpPr/>
          <p:nvPr/>
        </p:nvSpPr>
        <p:spPr>
          <a:xfrm>
            <a:off x="548640" y="105156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51560"/>
            <a:ext cx="64008" cy="777240"/>
          </a:xfrm>
          <a:prstGeom prst="rect">
            <a:avLst/>
          </a:prstGeom>
          <a:solidFill>
            <a:srgbClr val="2AA876"/>
          </a:solidFill>
          <a:ln/>
        </p:spPr>
      </p:sp>
      <p:sp>
        <p:nvSpPr>
          <p:cNvPr id="7" name="Text 5"/>
          <p:cNvSpPr/>
          <p:nvPr/>
        </p:nvSpPr>
        <p:spPr>
          <a:xfrm>
            <a:off x="822960" y="1097280"/>
            <a:ext cx="758952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MCP / Agent Protocol Fluency</a:t>
            </a:r>
            <a:endParaRPr lang="en-US" sz="1700" dirty="0"/>
          </a:p>
        </p:txBody>
      </p:sp>
      <p:sp>
        <p:nvSpPr>
          <p:cNvPr id="8" name="Text 6"/>
          <p:cNvSpPr/>
          <p:nvPr/>
        </p:nvSpPr>
        <p:spPr>
          <a:xfrm>
            <a:off x="822960" y="1463040"/>
            <a:ext cx="7589520" cy="32004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Understand tool definitions, auth patterns, and scoping mechanisms</a:t>
            </a:r>
            <a:endParaRPr lang="en-US" sz="1400" dirty="0"/>
          </a:p>
        </p:txBody>
      </p:sp>
      <p:sp>
        <p:nvSpPr>
          <p:cNvPr id="9" name="Shape 7"/>
          <p:cNvSpPr/>
          <p:nvPr/>
        </p:nvSpPr>
        <p:spPr>
          <a:xfrm>
            <a:off x="548640" y="196596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1965960"/>
            <a:ext cx="64008" cy="777240"/>
          </a:xfrm>
          <a:prstGeom prst="rect">
            <a:avLst/>
          </a:prstGeom>
          <a:solidFill>
            <a:srgbClr val="2AA876"/>
          </a:solidFill>
          <a:ln/>
        </p:spPr>
      </p:sp>
      <p:sp>
        <p:nvSpPr>
          <p:cNvPr id="11" name="Text 9"/>
          <p:cNvSpPr/>
          <p:nvPr/>
        </p:nvSpPr>
        <p:spPr>
          <a:xfrm>
            <a:off x="822960" y="2011680"/>
            <a:ext cx="758952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Prompt Injection Awareness</a:t>
            </a:r>
            <a:endParaRPr lang="en-US" sz="1700" dirty="0"/>
          </a:p>
        </p:txBody>
      </p:sp>
      <p:sp>
        <p:nvSpPr>
          <p:cNvPr id="12" name="Text 10"/>
          <p:cNvSpPr/>
          <p:nvPr/>
        </p:nvSpPr>
        <p:spPr>
          <a:xfrm>
            <a:off x="822960" y="2377440"/>
            <a:ext cx="7589520" cy="32004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Know how malicious inputs can trick agents into running unintended queries</a:t>
            </a:r>
            <a:endParaRPr lang="en-US" sz="1400" dirty="0"/>
          </a:p>
        </p:txBody>
      </p:sp>
      <p:sp>
        <p:nvSpPr>
          <p:cNvPr id="13" name="Shape 11"/>
          <p:cNvSpPr/>
          <p:nvPr/>
        </p:nvSpPr>
        <p:spPr>
          <a:xfrm>
            <a:off x="548640" y="288036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548640" y="2880360"/>
            <a:ext cx="64008" cy="777240"/>
          </a:xfrm>
          <a:prstGeom prst="rect">
            <a:avLst/>
          </a:prstGeom>
          <a:solidFill>
            <a:srgbClr val="2AA876"/>
          </a:solidFill>
          <a:ln/>
        </p:spPr>
      </p:sp>
      <p:sp>
        <p:nvSpPr>
          <p:cNvPr id="15" name="Text 13"/>
          <p:cNvSpPr/>
          <p:nvPr/>
        </p:nvSpPr>
        <p:spPr>
          <a:xfrm>
            <a:off x="822960" y="2926080"/>
            <a:ext cx="758952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Agent Observability</a:t>
            </a:r>
            <a:endParaRPr lang="en-US" sz="1700" dirty="0"/>
          </a:p>
        </p:txBody>
      </p:sp>
      <p:sp>
        <p:nvSpPr>
          <p:cNvPr id="16" name="Text 14"/>
          <p:cNvSpPr/>
          <p:nvPr/>
        </p:nvSpPr>
        <p:spPr>
          <a:xfrm>
            <a:off x="822960" y="3291840"/>
            <a:ext cx="7589520" cy="32004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Monitor agent behavior patterns, detect anomalies, correlate audit logs</a:t>
            </a:r>
            <a:endParaRPr lang="en-US" sz="1400" dirty="0"/>
          </a:p>
        </p:txBody>
      </p:sp>
      <p:sp>
        <p:nvSpPr>
          <p:cNvPr id="17" name="Shape 15"/>
          <p:cNvSpPr/>
          <p:nvPr/>
        </p:nvSpPr>
        <p:spPr>
          <a:xfrm>
            <a:off x="548640" y="379476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548640" y="3794760"/>
            <a:ext cx="64008" cy="777240"/>
          </a:xfrm>
          <a:prstGeom prst="rect">
            <a:avLst/>
          </a:prstGeom>
          <a:solidFill>
            <a:srgbClr val="2AA876"/>
          </a:solidFill>
          <a:ln/>
        </p:spPr>
      </p:sp>
      <p:sp>
        <p:nvSpPr>
          <p:cNvPr id="19" name="Text 17"/>
          <p:cNvSpPr/>
          <p:nvPr/>
        </p:nvSpPr>
        <p:spPr>
          <a:xfrm>
            <a:off x="822960" y="3840480"/>
            <a:ext cx="758952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Policy-as-Code</a:t>
            </a:r>
            <a:endParaRPr lang="en-US" sz="1700" dirty="0"/>
          </a:p>
        </p:txBody>
      </p:sp>
      <p:sp>
        <p:nvSpPr>
          <p:cNvPr id="20" name="Text 18"/>
          <p:cNvSpPr/>
          <p:nvPr/>
        </p:nvSpPr>
        <p:spPr>
          <a:xfrm>
            <a:off x="822960" y="4206240"/>
            <a:ext cx="7589520" cy="320040"/>
          </a:xfrm>
          <a:prstGeom prst="rect">
            <a:avLst/>
          </a:prstGeom>
          <a:noFill/>
          <a:ln/>
        </p:spPr>
        <p:txBody>
          <a:bodyPr wrap="square" lIns="0" tIns="0" rIns="0" bIns="0" rtlCol="0" anchor="t"/>
          <a:lstStyle/>
          <a:p>
            <a:pPr indent="0" marL="0">
              <a:buNone/>
            </a:pPr>
            <a:r>
              <a:rPr lang="en-US" sz="1400" dirty="0">
                <a:solidFill>
                  <a:srgbClr val="4A6080"/>
                </a:solidFill>
                <a:latin typeface="Nunito Sans" pitchFamily="34" charset="0"/>
                <a:ea typeface="Nunito Sans" pitchFamily="34" charset="-122"/>
                <a:cs typeface="Nunito Sans" pitchFamily="34" charset="-120"/>
              </a:rPr>
              <a:t>Define agent permissions declaratively—version-controlled, reviewable, testable</a:t>
            </a:r>
            <a:endParaRPr lang="en-US" sz="1400" dirty="0"/>
          </a:p>
        </p:txBody>
      </p:sp>
      <p:sp>
        <p:nvSpPr>
          <p:cNvPr id="21" name="Text 19"/>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22 / 27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pic>
        <p:nvPicPr>
          <p:cNvPr id="3" name="Image 0" descr="/home/claude/bird-logo.png">    </p:cNvPr>
          <p:cNvPicPr>
            <a:picLocks noChangeAspect="1"/>
          </p:cNvPicPr>
          <p:nvPr/>
        </p:nvPicPr>
        <p:blipFill>
          <a:blip r:embed="rId1"/>
          <a:stretch>
            <a:fillRect/>
          </a:stretch>
        </p:blipFill>
        <p:spPr>
          <a:xfrm>
            <a:off x="731520" y="1280160"/>
            <a:ext cx="822960" cy="886968"/>
          </a:xfrm>
          <a:prstGeom prst="rect">
            <a:avLst/>
          </a:prstGeom>
        </p:spPr>
      </p:pic>
      <p:sp>
        <p:nvSpPr>
          <p:cNvPr id="4" name="Text 1"/>
          <p:cNvSpPr/>
          <p:nvPr/>
        </p:nvSpPr>
        <p:spPr>
          <a:xfrm>
            <a:off x="731520" y="2331720"/>
            <a:ext cx="7315200" cy="457200"/>
          </a:xfrm>
          <a:prstGeom prst="rect">
            <a:avLst/>
          </a:prstGeom>
          <a:noFill/>
          <a:ln/>
        </p:spPr>
        <p:txBody>
          <a:bodyPr wrap="square" rtlCol="0" anchor="ctr"/>
          <a:lstStyle/>
          <a:p>
            <a:pPr indent="0" marL="0">
              <a:buNone/>
            </a:pPr>
            <a:r>
              <a:rPr lang="en-US" sz="1600" b="1" dirty="0">
                <a:solidFill>
                  <a:srgbClr val="3D8ADE"/>
                </a:solidFill>
                <a:latin typeface="Nunito Sans" pitchFamily="34" charset="0"/>
                <a:ea typeface="Nunito Sans" pitchFamily="34" charset="-122"/>
                <a:cs typeface="Nunito Sans" pitchFamily="34" charset="-120"/>
              </a:rPr>
              <a:t>Section 6</a:t>
            </a:r>
            <a:endParaRPr lang="en-US" sz="1600" dirty="0"/>
          </a:p>
        </p:txBody>
      </p:sp>
      <p:sp>
        <p:nvSpPr>
          <p:cNvPr id="5" name="Text 2"/>
          <p:cNvSpPr/>
          <p:nvPr/>
        </p:nvSpPr>
        <p:spPr>
          <a:xfrm>
            <a:off x="731520" y="2697480"/>
            <a:ext cx="7772400" cy="1097280"/>
          </a:xfrm>
          <a:prstGeom prst="rect">
            <a:avLst/>
          </a:prstGeom>
          <a:noFill/>
          <a:ln/>
        </p:spPr>
        <p:txBody>
          <a:bodyPr wrap="square"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Tools &amp; Takeaways</a:t>
            </a:r>
            <a:endParaRPr lang="en-US" sz="3800" dirty="0"/>
          </a:p>
        </p:txBody>
      </p:sp>
      <p:sp>
        <p:nvSpPr>
          <p:cNvPr id="6" name="Text 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23 / 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Tools &amp; Takeaways</a:t>
            </a:r>
            <a:endParaRPr lang="en-US" sz="1000" dirty="0"/>
          </a:p>
        </p:txBody>
      </p:sp>
      <p:sp>
        <p:nvSpPr>
          <p:cNvPr id="4" name="Text 2"/>
          <p:cNvSpPr/>
          <p:nvPr/>
        </p:nvSpPr>
        <p:spPr>
          <a:xfrm>
            <a:off x="548640" y="228600"/>
            <a:ext cx="7315200" cy="64008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"Who Changed That?"</a:t>
            </a:r>
            <a:endParaRPr lang="en-US" sz="3000" dirty="0"/>
          </a:p>
        </p:txBody>
      </p:sp>
      <p:sp>
        <p:nvSpPr>
          <p:cNvPr id="5" name="Text 3"/>
          <p:cNvSpPr/>
          <p:nvPr/>
        </p:nvSpPr>
        <p:spPr>
          <a:xfrm>
            <a:off x="548640" y="777240"/>
            <a:ext cx="5486400" cy="320040"/>
          </a:xfrm>
          <a:prstGeom prst="rect">
            <a:avLst/>
          </a:prstGeom>
          <a:noFill/>
          <a:ln/>
        </p:spPr>
        <p:txBody>
          <a:bodyPr wrap="square" rtlCol="0" anchor="ctr"/>
          <a:lstStyle/>
          <a:p>
            <a:pPr indent="0" marL="0">
              <a:buNone/>
            </a:pPr>
            <a:r>
              <a:rPr lang="en-US" sz="1500" i="1" dirty="0">
                <a:solidFill>
                  <a:srgbClr val="146BCD"/>
                </a:solidFill>
                <a:latin typeface="Nunito Sans" pitchFamily="34" charset="0"/>
                <a:ea typeface="Nunito Sans" pitchFamily="34" charset="-122"/>
                <a:cs typeface="Nunito Sans" pitchFamily="34" charset="-120"/>
              </a:rPr>
              <a:t>Agent-aware change tracking for SQL Server</a:t>
            </a:r>
            <a:endParaRPr lang="en-US" sz="1500" dirty="0"/>
          </a:p>
        </p:txBody>
      </p:sp>
      <p:sp>
        <p:nvSpPr>
          <p:cNvPr id="6" name="Shape 4"/>
          <p:cNvSpPr/>
          <p:nvPr/>
        </p:nvSpPr>
        <p:spPr>
          <a:xfrm>
            <a:off x="548640" y="128016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548640" y="1280160"/>
            <a:ext cx="64008" cy="1325880"/>
          </a:xfrm>
          <a:prstGeom prst="rect">
            <a:avLst/>
          </a:prstGeom>
          <a:solidFill>
            <a:srgbClr val="146BCD"/>
          </a:solidFill>
          <a:ln/>
        </p:spPr>
      </p:sp>
      <p:sp>
        <p:nvSpPr>
          <p:cNvPr id="8" name="Text 6"/>
          <p:cNvSpPr/>
          <p:nvPr/>
        </p:nvSpPr>
        <p:spPr>
          <a:xfrm>
            <a:off x="731520" y="1389888"/>
            <a:ext cx="356616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Schema Diff Tracking</a:t>
            </a:r>
            <a:endParaRPr lang="en-US" sz="1700" dirty="0"/>
          </a:p>
        </p:txBody>
      </p:sp>
      <p:sp>
        <p:nvSpPr>
          <p:cNvPr id="9" name="Text 7"/>
          <p:cNvSpPr/>
          <p:nvPr/>
        </p:nvSpPr>
        <p:spPr>
          <a:xfrm>
            <a:off x="731520" y="1783080"/>
            <a:ext cx="3566160" cy="731520"/>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Automatically detects and logs DDL changes made by agents vs. humans. Full before/after snapshots.</a:t>
            </a:r>
            <a:endParaRPr lang="en-US" sz="1300" dirty="0"/>
          </a:p>
        </p:txBody>
      </p:sp>
      <p:sp>
        <p:nvSpPr>
          <p:cNvPr id="10" name="Shape 8"/>
          <p:cNvSpPr/>
          <p:nvPr/>
        </p:nvSpPr>
        <p:spPr>
          <a:xfrm>
            <a:off x="4663440" y="128016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4663440" y="1280160"/>
            <a:ext cx="64008" cy="1325880"/>
          </a:xfrm>
          <a:prstGeom prst="rect">
            <a:avLst/>
          </a:prstGeom>
          <a:solidFill>
            <a:srgbClr val="146BCD"/>
          </a:solidFill>
          <a:ln/>
        </p:spPr>
      </p:sp>
      <p:sp>
        <p:nvSpPr>
          <p:cNvPr id="12" name="Text 10"/>
          <p:cNvSpPr/>
          <p:nvPr/>
        </p:nvSpPr>
        <p:spPr>
          <a:xfrm>
            <a:off x="4846320" y="1389888"/>
            <a:ext cx="356616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Agent Attribution</a:t>
            </a:r>
            <a:endParaRPr lang="en-US" sz="1700" dirty="0"/>
          </a:p>
        </p:txBody>
      </p:sp>
      <p:sp>
        <p:nvSpPr>
          <p:cNvPr id="13" name="Text 11"/>
          <p:cNvSpPr/>
          <p:nvPr/>
        </p:nvSpPr>
        <p:spPr>
          <a:xfrm>
            <a:off x="4846320" y="1783080"/>
            <a:ext cx="3566160" cy="731520"/>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Correlates every change to the specific agent session, user request, and MCP tool call.</a:t>
            </a:r>
            <a:endParaRPr lang="en-US" sz="1300" dirty="0"/>
          </a:p>
        </p:txBody>
      </p:sp>
      <p:sp>
        <p:nvSpPr>
          <p:cNvPr id="14" name="Shape 12"/>
          <p:cNvSpPr/>
          <p:nvPr/>
        </p:nvSpPr>
        <p:spPr>
          <a:xfrm>
            <a:off x="548640" y="283464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548640" y="2834640"/>
            <a:ext cx="64008" cy="1325880"/>
          </a:xfrm>
          <a:prstGeom prst="rect">
            <a:avLst/>
          </a:prstGeom>
          <a:solidFill>
            <a:srgbClr val="146BCD"/>
          </a:solidFill>
          <a:ln/>
        </p:spPr>
      </p:sp>
      <p:sp>
        <p:nvSpPr>
          <p:cNvPr id="16" name="Text 14"/>
          <p:cNvSpPr/>
          <p:nvPr/>
        </p:nvSpPr>
        <p:spPr>
          <a:xfrm>
            <a:off x="731520" y="2944368"/>
            <a:ext cx="356616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Alert &amp; Escalation</a:t>
            </a:r>
            <a:endParaRPr lang="en-US" sz="1700" dirty="0"/>
          </a:p>
        </p:txBody>
      </p:sp>
      <p:sp>
        <p:nvSpPr>
          <p:cNvPr id="17" name="Text 15"/>
          <p:cNvSpPr/>
          <p:nvPr/>
        </p:nvSpPr>
        <p:spPr>
          <a:xfrm>
            <a:off x="731520" y="3337560"/>
            <a:ext cx="3566160" cy="731520"/>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Real-time alerts when agents make unexpected changes. Integrates with your existing monitoring.</a:t>
            </a:r>
            <a:endParaRPr lang="en-US" sz="1300" dirty="0"/>
          </a:p>
        </p:txBody>
      </p:sp>
      <p:sp>
        <p:nvSpPr>
          <p:cNvPr id="18" name="Shape 16"/>
          <p:cNvSpPr/>
          <p:nvPr/>
        </p:nvSpPr>
        <p:spPr>
          <a:xfrm>
            <a:off x="4663440" y="2834640"/>
            <a:ext cx="3931920" cy="1325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663440" y="2834640"/>
            <a:ext cx="64008" cy="1325880"/>
          </a:xfrm>
          <a:prstGeom prst="rect">
            <a:avLst/>
          </a:prstGeom>
          <a:solidFill>
            <a:srgbClr val="146BCD"/>
          </a:solidFill>
          <a:ln/>
        </p:spPr>
      </p:sp>
      <p:sp>
        <p:nvSpPr>
          <p:cNvPr id="20" name="Text 18"/>
          <p:cNvSpPr/>
          <p:nvPr/>
        </p:nvSpPr>
        <p:spPr>
          <a:xfrm>
            <a:off x="4846320" y="2944368"/>
            <a:ext cx="3566160" cy="365760"/>
          </a:xfrm>
          <a:prstGeom prst="rect">
            <a:avLst/>
          </a:prstGeom>
          <a:noFill/>
          <a:ln/>
        </p:spPr>
        <p:txBody>
          <a:bodyPr wrap="square" lIns="0" tIns="0" rIns="0" bIns="0" rtlCol="0" anchor="ctr"/>
          <a:lstStyle/>
          <a:p>
            <a:pPr indent="0" marL="0">
              <a:buNone/>
            </a:pPr>
            <a:r>
              <a:rPr lang="en-US" sz="1700" b="1" dirty="0">
                <a:solidFill>
                  <a:srgbClr val="0D2B4E"/>
                </a:solidFill>
                <a:latin typeface="Inter" pitchFamily="34" charset="0"/>
                <a:ea typeface="Inter" pitchFamily="34" charset="-122"/>
                <a:cs typeface="Inter" pitchFamily="34" charset="-120"/>
              </a:rPr>
              <a:t>Compliance Reports</a:t>
            </a:r>
            <a:endParaRPr lang="en-US" sz="1700" dirty="0"/>
          </a:p>
        </p:txBody>
      </p:sp>
      <p:sp>
        <p:nvSpPr>
          <p:cNvPr id="21" name="Text 19"/>
          <p:cNvSpPr/>
          <p:nvPr/>
        </p:nvSpPr>
        <p:spPr>
          <a:xfrm>
            <a:off x="4846320" y="3337560"/>
            <a:ext cx="3566160" cy="731520"/>
          </a:xfrm>
          <a:prstGeom prst="rect">
            <a:avLst/>
          </a:prstGeom>
          <a:noFill/>
          <a:ln/>
        </p:spPr>
        <p:txBody>
          <a:bodyPr wrap="square" lIns="0" tIns="0" rIns="0" bIns="0" rtlCol="0" anchor="t"/>
          <a:lstStyle/>
          <a:p>
            <a:pPr indent="0" marL="0">
              <a:buNone/>
            </a:pPr>
            <a:r>
              <a:rPr lang="en-US" sz="1300" dirty="0">
                <a:solidFill>
                  <a:srgbClr val="4A6080"/>
                </a:solidFill>
                <a:latin typeface="Nunito Sans" pitchFamily="34" charset="0"/>
                <a:ea typeface="Nunito Sans" pitchFamily="34" charset="-122"/>
                <a:cs typeface="Nunito Sans" pitchFamily="34" charset="-120"/>
              </a:rPr>
              <a:t>Pre-built reports for SOX, HIPAA, and internal audit showing complete agent activity history.</a:t>
            </a:r>
            <a:endParaRPr lang="en-US" sz="1300" dirty="0"/>
          </a:p>
        </p:txBody>
      </p:sp>
      <p:sp>
        <p:nvSpPr>
          <p:cNvPr id="22" name="Text 20"/>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24 / 27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Tools &amp; Takeaways</a:t>
            </a:r>
            <a:endParaRPr lang="en-US" sz="1000" dirty="0"/>
          </a:p>
        </p:txBody>
      </p:sp>
      <p:sp>
        <p:nvSpPr>
          <p:cNvPr id="4" name="Text 2"/>
          <p:cNvSpPr/>
          <p:nvPr/>
        </p:nvSpPr>
        <p:spPr>
          <a:xfrm>
            <a:off x="548640" y="228600"/>
            <a:ext cx="7315200" cy="640080"/>
          </a:xfrm>
          <a:prstGeom prst="rect">
            <a:avLst/>
          </a:prstGeom>
          <a:noFill/>
          <a:ln/>
        </p:spPr>
        <p:txBody>
          <a:bodyPr wrap="square" lIns="0" tIns="0" rIns="0" bIns="0" rtlCol="0" anchor="ctr"/>
          <a:lstStyle/>
          <a:p>
            <a:pPr indent="0" marL="0">
              <a:buNone/>
            </a:pPr>
            <a:r>
              <a:rPr lang="en-US" sz="3000" b="1" dirty="0">
                <a:solidFill>
                  <a:srgbClr val="0D2B4E"/>
                </a:solidFill>
                <a:latin typeface="Inter" pitchFamily="34" charset="0"/>
                <a:ea typeface="Inter" pitchFamily="34" charset="-122"/>
                <a:cs typeface="Inter" pitchFamily="34" charset="-120"/>
              </a:rPr>
              <a:t>Security Check Tool</a:t>
            </a:r>
            <a:endParaRPr lang="en-US" sz="3000" dirty="0"/>
          </a:p>
        </p:txBody>
      </p:sp>
      <p:sp>
        <p:nvSpPr>
          <p:cNvPr id="5" name="Text 3"/>
          <p:cNvSpPr/>
          <p:nvPr/>
        </p:nvSpPr>
        <p:spPr>
          <a:xfrm>
            <a:off x="548640" y="777240"/>
            <a:ext cx="7315200" cy="320040"/>
          </a:xfrm>
          <a:prstGeom prst="rect">
            <a:avLst/>
          </a:prstGeom>
          <a:noFill/>
          <a:ln/>
        </p:spPr>
        <p:txBody>
          <a:bodyPr wrap="square" rtlCol="0" anchor="ctr"/>
          <a:lstStyle/>
          <a:p>
            <a:pPr indent="0" marL="0">
              <a:buNone/>
            </a:pPr>
            <a:r>
              <a:rPr lang="en-US" sz="1500" i="1" dirty="0">
                <a:solidFill>
                  <a:srgbClr val="146BCD"/>
                </a:solidFill>
                <a:latin typeface="Nunito Sans" pitchFamily="34" charset="0"/>
                <a:ea typeface="Nunito Sans" pitchFamily="34" charset="-122"/>
                <a:cs typeface="Nunito Sans" pitchFamily="34" charset="-120"/>
              </a:rPr>
              <a:t>Automated security posture assessment for agent-connected SQL Server</a:t>
            </a:r>
            <a:endParaRPr lang="en-US" sz="1500" dirty="0"/>
          </a:p>
        </p:txBody>
      </p:sp>
      <p:sp>
        <p:nvSpPr>
          <p:cNvPr id="6" name="Shape 4"/>
          <p:cNvSpPr/>
          <p:nvPr/>
        </p:nvSpPr>
        <p:spPr>
          <a:xfrm>
            <a:off x="548640" y="1280160"/>
            <a:ext cx="260604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548640" y="1280160"/>
            <a:ext cx="2606040" cy="64008"/>
          </a:xfrm>
          <a:prstGeom prst="rect">
            <a:avLst/>
          </a:prstGeom>
          <a:solidFill>
            <a:srgbClr val="E85D24"/>
          </a:solidFill>
          <a:ln/>
        </p:spPr>
      </p:sp>
      <p:pic>
        <p:nvPicPr>
          <p:cNvPr id="8" name="Image 0" descr="preencoded.png">    </p:cNvPr>
          <p:cNvPicPr>
            <a:picLocks noChangeAspect="1"/>
          </p:cNvPicPr>
          <p:nvPr/>
        </p:nvPicPr>
        <p:blipFill>
          <a:blip r:embed="rId1"/>
          <a:stretch>
            <a:fillRect/>
          </a:stretch>
        </p:blipFill>
        <p:spPr>
          <a:xfrm>
            <a:off x="1508760" y="1554480"/>
            <a:ext cx="640080" cy="640080"/>
          </a:xfrm>
          <a:prstGeom prst="rect">
            <a:avLst/>
          </a:prstGeom>
        </p:spPr>
      </p:pic>
      <p:sp>
        <p:nvSpPr>
          <p:cNvPr id="9" name="Text 6"/>
          <p:cNvSpPr/>
          <p:nvPr/>
        </p:nvSpPr>
        <p:spPr>
          <a:xfrm>
            <a:off x="731520" y="2331720"/>
            <a:ext cx="2240280" cy="457200"/>
          </a:xfrm>
          <a:prstGeom prst="rect">
            <a:avLst/>
          </a:prstGeom>
          <a:noFill/>
          <a:ln/>
        </p:spPr>
        <p:txBody>
          <a:bodyPr wrap="square" lIns="0" tIns="0" rIns="0" bIns="0" rtlCol="0" anchor="ctr"/>
          <a:lstStyle/>
          <a:p>
            <a:pPr algn="ctr" indent="0" marL="0">
              <a:buNone/>
            </a:pPr>
            <a:r>
              <a:rPr lang="en-US" sz="1700" b="1" dirty="0">
                <a:solidFill>
                  <a:srgbClr val="0D2B4E"/>
                </a:solidFill>
                <a:latin typeface="Inter" pitchFamily="34" charset="0"/>
                <a:ea typeface="Inter" pitchFamily="34" charset="-122"/>
                <a:cs typeface="Inter" pitchFamily="34" charset="-120"/>
              </a:rPr>
              <a:t>Permission Audit</a:t>
            </a:r>
            <a:endParaRPr lang="en-US" sz="1700" dirty="0"/>
          </a:p>
        </p:txBody>
      </p:sp>
      <p:sp>
        <p:nvSpPr>
          <p:cNvPr id="10" name="Text 7"/>
          <p:cNvSpPr/>
          <p:nvPr/>
        </p:nvSpPr>
        <p:spPr>
          <a:xfrm>
            <a:off x="731520" y="2834640"/>
            <a:ext cx="2240280" cy="1280160"/>
          </a:xfrm>
          <a:prstGeom prst="rect">
            <a:avLst/>
          </a:prstGeom>
          <a:noFill/>
          <a:ln/>
        </p:spPr>
        <p:txBody>
          <a:bodyPr wrap="square" lIns="0" tIns="0" rIns="0" bIns="0" rtlCol="0" anchor="t"/>
          <a:lstStyle/>
          <a:p>
            <a:pPr algn="ctr" indent="0" marL="0">
              <a:buNone/>
            </a:pPr>
            <a:r>
              <a:rPr lang="en-US" sz="1300" dirty="0">
                <a:solidFill>
                  <a:srgbClr val="4A6080"/>
                </a:solidFill>
                <a:latin typeface="Nunito Sans" pitchFamily="34" charset="0"/>
                <a:ea typeface="Nunito Sans" pitchFamily="34" charset="-122"/>
                <a:cs typeface="Nunito Sans" pitchFamily="34" charset="-120"/>
              </a:rPr>
              <a:t>Scans all agent service accounts. Flags over-privileged access. Recommends least-privilege fixes.</a:t>
            </a:r>
            <a:endParaRPr lang="en-US" sz="1300" dirty="0"/>
          </a:p>
        </p:txBody>
      </p:sp>
      <p:sp>
        <p:nvSpPr>
          <p:cNvPr id="11" name="Shape 8"/>
          <p:cNvSpPr/>
          <p:nvPr/>
        </p:nvSpPr>
        <p:spPr>
          <a:xfrm>
            <a:off x="3383280" y="1280160"/>
            <a:ext cx="260604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3383280" y="1280160"/>
            <a:ext cx="2606040" cy="64008"/>
          </a:xfrm>
          <a:prstGeom prst="rect">
            <a:avLst/>
          </a:prstGeom>
          <a:solidFill>
            <a:srgbClr val="146BCD"/>
          </a:solidFill>
          <a:ln/>
        </p:spPr>
      </p:sp>
      <p:pic>
        <p:nvPicPr>
          <p:cNvPr id="13" name="Image 1" descr="preencoded.png">    </p:cNvPr>
          <p:cNvPicPr>
            <a:picLocks noChangeAspect="1"/>
          </p:cNvPicPr>
          <p:nvPr/>
        </p:nvPicPr>
        <p:blipFill>
          <a:blip r:embed="rId2"/>
          <a:stretch>
            <a:fillRect/>
          </a:stretch>
        </p:blipFill>
        <p:spPr>
          <a:xfrm>
            <a:off x="4343400" y="1554480"/>
            <a:ext cx="640080" cy="640080"/>
          </a:xfrm>
          <a:prstGeom prst="rect">
            <a:avLst/>
          </a:prstGeom>
        </p:spPr>
      </p:pic>
      <p:sp>
        <p:nvSpPr>
          <p:cNvPr id="14" name="Text 10"/>
          <p:cNvSpPr/>
          <p:nvPr/>
        </p:nvSpPr>
        <p:spPr>
          <a:xfrm>
            <a:off x="3566160" y="2331720"/>
            <a:ext cx="2240280" cy="457200"/>
          </a:xfrm>
          <a:prstGeom prst="rect">
            <a:avLst/>
          </a:prstGeom>
          <a:noFill/>
          <a:ln/>
        </p:spPr>
        <p:txBody>
          <a:bodyPr wrap="square" lIns="0" tIns="0" rIns="0" bIns="0" rtlCol="0" anchor="ctr"/>
          <a:lstStyle/>
          <a:p>
            <a:pPr algn="ctr" indent="0" marL="0">
              <a:buNone/>
            </a:pPr>
            <a:r>
              <a:rPr lang="en-US" sz="1700" b="1" dirty="0">
                <a:solidFill>
                  <a:srgbClr val="0D2B4E"/>
                </a:solidFill>
                <a:latin typeface="Inter" pitchFamily="34" charset="0"/>
                <a:ea typeface="Inter" pitchFamily="34" charset="-122"/>
                <a:cs typeface="Inter" pitchFamily="34" charset="-120"/>
              </a:rPr>
              <a:t>Configuration Check</a:t>
            </a:r>
            <a:endParaRPr lang="en-US" sz="1700" dirty="0"/>
          </a:p>
        </p:txBody>
      </p:sp>
      <p:sp>
        <p:nvSpPr>
          <p:cNvPr id="15" name="Text 11"/>
          <p:cNvSpPr/>
          <p:nvPr/>
        </p:nvSpPr>
        <p:spPr>
          <a:xfrm>
            <a:off x="3566160" y="2834640"/>
            <a:ext cx="2240280" cy="1280160"/>
          </a:xfrm>
          <a:prstGeom prst="rect">
            <a:avLst/>
          </a:prstGeom>
          <a:noFill/>
          <a:ln/>
        </p:spPr>
        <p:txBody>
          <a:bodyPr wrap="square" lIns="0" tIns="0" rIns="0" bIns="0" rtlCol="0" anchor="t"/>
          <a:lstStyle/>
          <a:p>
            <a:pPr algn="ctr" indent="0" marL="0">
              <a:buNone/>
            </a:pPr>
            <a:r>
              <a:rPr lang="en-US" sz="1300" dirty="0">
                <a:solidFill>
                  <a:srgbClr val="4A6080"/>
                </a:solidFill>
                <a:latin typeface="Nunito Sans" pitchFamily="34" charset="0"/>
                <a:ea typeface="Nunito Sans" pitchFamily="34" charset="-122"/>
                <a:cs typeface="Nunito Sans" pitchFamily="34" charset="-120"/>
              </a:rPr>
              <a:t>Validates MCP server config, audit settings, TDE status, network exposure. Scores your posture.</a:t>
            </a:r>
            <a:endParaRPr lang="en-US" sz="1300" dirty="0"/>
          </a:p>
        </p:txBody>
      </p:sp>
      <p:sp>
        <p:nvSpPr>
          <p:cNvPr id="16" name="Shape 12"/>
          <p:cNvSpPr/>
          <p:nvPr/>
        </p:nvSpPr>
        <p:spPr>
          <a:xfrm>
            <a:off x="6217920" y="1280160"/>
            <a:ext cx="260604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3"/>
          <p:cNvSpPr/>
          <p:nvPr/>
        </p:nvSpPr>
        <p:spPr>
          <a:xfrm>
            <a:off x="6217920" y="1280160"/>
            <a:ext cx="2606040" cy="64008"/>
          </a:xfrm>
          <a:prstGeom prst="rect">
            <a:avLst/>
          </a:prstGeom>
          <a:solidFill>
            <a:srgbClr val="E85D24"/>
          </a:solidFill>
          <a:ln/>
        </p:spPr>
      </p:sp>
      <p:pic>
        <p:nvPicPr>
          <p:cNvPr id="18" name="Image 2" descr="preencoded.png">    </p:cNvPr>
          <p:cNvPicPr>
            <a:picLocks noChangeAspect="1"/>
          </p:cNvPicPr>
          <p:nvPr/>
        </p:nvPicPr>
        <p:blipFill>
          <a:blip r:embed="rId3"/>
          <a:stretch>
            <a:fillRect/>
          </a:stretch>
        </p:blipFill>
        <p:spPr>
          <a:xfrm>
            <a:off x="7178040" y="1554480"/>
            <a:ext cx="640080" cy="640080"/>
          </a:xfrm>
          <a:prstGeom prst="rect">
            <a:avLst/>
          </a:prstGeom>
        </p:spPr>
      </p:pic>
      <p:sp>
        <p:nvSpPr>
          <p:cNvPr id="19" name="Text 14"/>
          <p:cNvSpPr/>
          <p:nvPr/>
        </p:nvSpPr>
        <p:spPr>
          <a:xfrm>
            <a:off x="6400800" y="2331720"/>
            <a:ext cx="2240280" cy="457200"/>
          </a:xfrm>
          <a:prstGeom prst="rect">
            <a:avLst/>
          </a:prstGeom>
          <a:noFill/>
          <a:ln/>
        </p:spPr>
        <p:txBody>
          <a:bodyPr wrap="square" lIns="0" tIns="0" rIns="0" bIns="0" rtlCol="0" anchor="ctr"/>
          <a:lstStyle/>
          <a:p>
            <a:pPr algn="ctr" indent="0" marL="0">
              <a:buNone/>
            </a:pPr>
            <a:r>
              <a:rPr lang="en-US" sz="1700" b="1" dirty="0">
                <a:solidFill>
                  <a:srgbClr val="0D2B4E"/>
                </a:solidFill>
                <a:latin typeface="Inter" pitchFamily="34" charset="0"/>
                <a:ea typeface="Inter" pitchFamily="34" charset="-122"/>
                <a:cs typeface="Inter" pitchFamily="34" charset="-120"/>
              </a:rPr>
              <a:t>Threat Simulation</a:t>
            </a:r>
            <a:endParaRPr lang="en-US" sz="1700" dirty="0"/>
          </a:p>
        </p:txBody>
      </p:sp>
      <p:sp>
        <p:nvSpPr>
          <p:cNvPr id="20" name="Text 15"/>
          <p:cNvSpPr/>
          <p:nvPr/>
        </p:nvSpPr>
        <p:spPr>
          <a:xfrm>
            <a:off x="6400800" y="2834640"/>
            <a:ext cx="2240280" cy="1280160"/>
          </a:xfrm>
          <a:prstGeom prst="rect">
            <a:avLst/>
          </a:prstGeom>
          <a:noFill/>
          <a:ln/>
        </p:spPr>
        <p:txBody>
          <a:bodyPr wrap="square" lIns="0" tIns="0" rIns="0" bIns="0" rtlCol="0" anchor="t"/>
          <a:lstStyle/>
          <a:p>
            <a:pPr algn="ctr" indent="0" marL="0">
              <a:buNone/>
            </a:pPr>
            <a:r>
              <a:rPr lang="en-US" sz="1300" dirty="0">
                <a:solidFill>
                  <a:srgbClr val="4A6080"/>
                </a:solidFill>
                <a:latin typeface="Nunito Sans" pitchFamily="34" charset="0"/>
                <a:ea typeface="Nunito Sans" pitchFamily="34" charset="-122"/>
                <a:cs typeface="Nunito Sans" pitchFamily="34" charset="-120"/>
              </a:rPr>
              <a:t>Simulates prompt injection and privilege escalation attempts against your agent setup.</a:t>
            </a:r>
            <a:endParaRPr lang="en-US" sz="1300" dirty="0"/>
          </a:p>
        </p:txBody>
      </p:sp>
      <p:sp>
        <p:nvSpPr>
          <p:cNvPr id="21" name="Text 16"/>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25 / 27</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46BCD"/>
          </a:solidFill>
          <a:ln/>
        </p:spPr>
      </p:sp>
      <p:sp>
        <p:nvSpPr>
          <p:cNvPr id="3" name="Text 1"/>
          <p:cNvSpPr/>
          <p:nvPr/>
        </p:nvSpPr>
        <p:spPr>
          <a:xfrm>
            <a:off x="548640" y="4709160"/>
            <a:ext cx="3657600" cy="320040"/>
          </a:xfrm>
          <a:prstGeom prst="rect">
            <a:avLst/>
          </a:prstGeom>
          <a:noFill/>
          <a:ln/>
        </p:spPr>
        <p:txBody>
          <a:bodyPr wrap="square" rtlCol="0" anchor="ctr"/>
          <a:lstStyle/>
          <a:p>
            <a:pPr indent="0" marL="0">
              <a:buNone/>
            </a:pPr>
            <a:r>
              <a:rPr lang="en-US" sz="1000" i="1" dirty="0">
                <a:solidFill>
                  <a:srgbClr val="8B9BB5"/>
                </a:solidFill>
                <a:latin typeface="Nunito Sans" pitchFamily="34" charset="0"/>
                <a:ea typeface="Nunito Sans" pitchFamily="34" charset="-122"/>
                <a:cs typeface="Nunito Sans" pitchFamily="34" charset="-120"/>
              </a:rPr>
              <a:t>Tools &amp; Takeaways</a:t>
            </a:r>
            <a:endParaRPr lang="en-US" sz="1000" dirty="0"/>
          </a:p>
        </p:txBody>
      </p:sp>
      <p:sp>
        <p:nvSpPr>
          <p:cNvPr id="4" name="Text 2"/>
          <p:cNvSpPr/>
          <p:nvPr/>
        </p:nvSpPr>
        <p:spPr>
          <a:xfrm>
            <a:off x="548640" y="228600"/>
            <a:ext cx="7315200" cy="594360"/>
          </a:xfrm>
          <a:prstGeom prst="rect">
            <a:avLst/>
          </a:prstGeom>
          <a:noFill/>
          <a:ln/>
        </p:spPr>
        <p:txBody>
          <a:bodyPr wrap="square" lIns="0" tIns="0" rIns="0" bIns="0" rtlCol="0" anchor="ctr"/>
          <a:lstStyle/>
          <a:p>
            <a:pPr indent="0" marL="0">
              <a:buNone/>
            </a:pPr>
            <a:r>
              <a:rPr lang="en-US" sz="3200" b="1" dirty="0">
                <a:solidFill>
                  <a:srgbClr val="0D2B4E"/>
                </a:solidFill>
                <a:latin typeface="Inter" pitchFamily="34" charset="0"/>
                <a:ea typeface="Inter" pitchFamily="34" charset="-122"/>
                <a:cs typeface="Inter" pitchFamily="34" charset="-120"/>
              </a:rPr>
              <a:t>Key Takeaways</a:t>
            </a:r>
            <a:endParaRPr lang="en-US" sz="3200" dirty="0"/>
          </a:p>
        </p:txBody>
      </p:sp>
      <p:sp>
        <p:nvSpPr>
          <p:cNvPr id="5" name="Shape 3"/>
          <p:cNvSpPr/>
          <p:nvPr/>
        </p:nvSpPr>
        <p:spPr>
          <a:xfrm>
            <a:off x="548640" y="100584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005840"/>
            <a:ext cx="594360" cy="658368"/>
          </a:xfrm>
          <a:prstGeom prst="rect">
            <a:avLst/>
          </a:prstGeom>
          <a:solidFill>
            <a:srgbClr val="E85D24"/>
          </a:solidFill>
          <a:ln/>
        </p:spPr>
      </p:sp>
      <p:sp>
        <p:nvSpPr>
          <p:cNvPr id="7" name="Text 5"/>
          <p:cNvSpPr/>
          <p:nvPr/>
        </p:nvSpPr>
        <p:spPr>
          <a:xfrm>
            <a:off x="548640" y="1005840"/>
            <a:ext cx="594360" cy="658368"/>
          </a:xfrm>
          <a:prstGeom prst="rect">
            <a:avLst/>
          </a:prstGeom>
          <a:noFill/>
          <a:ln/>
        </p:spPr>
        <p:txBody>
          <a:bodyPr wrap="square"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1</a:t>
            </a:r>
            <a:endParaRPr lang="en-US" sz="2200" dirty="0"/>
          </a:p>
        </p:txBody>
      </p:sp>
      <p:sp>
        <p:nvSpPr>
          <p:cNvPr id="8" name="Text 6"/>
          <p:cNvSpPr/>
          <p:nvPr/>
        </p:nvSpPr>
        <p:spPr>
          <a:xfrm>
            <a:off x="1325880" y="1005840"/>
            <a:ext cx="7132320" cy="658368"/>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AI agents are not chatbots. They take actions. Treat them like any other service account with production access.</a:t>
            </a:r>
            <a:endParaRPr lang="en-US" sz="1400" dirty="0"/>
          </a:p>
        </p:txBody>
      </p:sp>
      <p:sp>
        <p:nvSpPr>
          <p:cNvPr id="9" name="Shape 7"/>
          <p:cNvSpPr/>
          <p:nvPr/>
        </p:nvSpPr>
        <p:spPr>
          <a:xfrm>
            <a:off x="548640" y="178308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1783080"/>
            <a:ext cx="594360" cy="658368"/>
          </a:xfrm>
          <a:prstGeom prst="rect">
            <a:avLst/>
          </a:prstGeom>
          <a:solidFill>
            <a:srgbClr val="E85D24"/>
          </a:solidFill>
          <a:ln/>
        </p:spPr>
      </p:sp>
      <p:sp>
        <p:nvSpPr>
          <p:cNvPr id="11" name="Text 9"/>
          <p:cNvSpPr/>
          <p:nvPr/>
        </p:nvSpPr>
        <p:spPr>
          <a:xfrm>
            <a:off x="548640" y="1783080"/>
            <a:ext cx="594360" cy="658368"/>
          </a:xfrm>
          <a:prstGeom prst="rect">
            <a:avLst/>
          </a:prstGeom>
          <a:noFill/>
          <a:ln/>
        </p:spPr>
        <p:txBody>
          <a:bodyPr wrap="square"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2</a:t>
            </a:r>
            <a:endParaRPr lang="en-US" sz="2200" dirty="0"/>
          </a:p>
        </p:txBody>
      </p:sp>
      <p:sp>
        <p:nvSpPr>
          <p:cNvPr id="12" name="Text 10"/>
          <p:cNvSpPr/>
          <p:nvPr/>
        </p:nvSpPr>
        <p:spPr>
          <a:xfrm>
            <a:off x="1325880" y="1783080"/>
            <a:ext cx="7132320" cy="658368"/>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MCP gives you a control surface. Use it to define, scope, and audit every tool an agent can call.</a:t>
            </a:r>
            <a:endParaRPr lang="en-US" sz="1400" dirty="0"/>
          </a:p>
        </p:txBody>
      </p:sp>
      <p:sp>
        <p:nvSpPr>
          <p:cNvPr id="13" name="Shape 11"/>
          <p:cNvSpPr/>
          <p:nvPr/>
        </p:nvSpPr>
        <p:spPr>
          <a:xfrm>
            <a:off x="548640" y="256032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548640" y="2560320"/>
            <a:ext cx="594360" cy="658368"/>
          </a:xfrm>
          <a:prstGeom prst="rect">
            <a:avLst/>
          </a:prstGeom>
          <a:solidFill>
            <a:srgbClr val="E85D24"/>
          </a:solidFill>
          <a:ln/>
        </p:spPr>
      </p:sp>
      <p:sp>
        <p:nvSpPr>
          <p:cNvPr id="15" name="Text 13"/>
          <p:cNvSpPr/>
          <p:nvPr/>
        </p:nvSpPr>
        <p:spPr>
          <a:xfrm>
            <a:off x="548640" y="2560320"/>
            <a:ext cx="594360" cy="658368"/>
          </a:xfrm>
          <a:prstGeom prst="rect">
            <a:avLst/>
          </a:prstGeom>
          <a:noFill/>
          <a:ln/>
        </p:spPr>
        <p:txBody>
          <a:bodyPr wrap="square"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3</a:t>
            </a:r>
            <a:endParaRPr lang="en-US" sz="2200" dirty="0"/>
          </a:p>
        </p:txBody>
      </p:sp>
      <p:sp>
        <p:nvSpPr>
          <p:cNvPr id="16" name="Text 14"/>
          <p:cNvSpPr/>
          <p:nvPr/>
        </p:nvSpPr>
        <p:spPr>
          <a:xfrm>
            <a:off x="1325880" y="2560320"/>
            <a:ext cx="7132320" cy="658368"/>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Start read-only. Earn write access through proven guardrails, audit trails, and human-in-the-loop approval.</a:t>
            </a:r>
            <a:endParaRPr lang="en-US" sz="1400" dirty="0"/>
          </a:p>
        </p:txBody>
      </p:sp>
      <p:sp>
        <p:nvSpPr>
          <p:cNvPr id="17" name="Shape 15"/>
          <p:cNvSpPr/>
          <p:nvPr/>
        </p:nvSpPr>
        <p:spPr>
          <a:xfrm>
            <a:off x="548640" y="333756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548640" y="3337560"/>
            <a:ext cx="594360" cy="658368"/>
          </a:xfrm>
          <a:prstGeom prst="rect">
            <a:avLst/>
          </a:prstGeom>
          <a:solidFill>
            <a:srgbClr val="E85D24"/>
          </a:solidFill>
          <a:ln/>
        </p:spPr>
      </p:sp>
      <p:sp>
        <p:nvSpPr>
          <p:cNvPr id="19" name="Text 17"/>
          <p:cNvSpPr/>
          <p:nvPr/>
        </p:nvSpPr>
        <p:spPr>
          <a:xfrm>
            <a:off x="548640" y="3337560"/>
            <a:ext cx="594360" cy="658368"/>
          </a:xfrm>
          <a:prstGeom prst="rect">
            <a:avLst/>
          </a:prstGeom>
          <a:noFill/>
          <a:ln/>
        </p:spPr>
        <p:txBody>
          <a:bodyPr wrap="square"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4</a:t>
            </a:r>
            <a:endParaRPr lang="en-US" sz="2200" dirty="0"/>
          </a:p>
        </p:txBody>
      </p:sp>
      <p:sp>
        <p:nvSpPr>
          <p:cNvPr id="20" name="Text 18"/>
          <p:cNvSpPr/>
          <p:nvPr/>
        </p:nvSpPr>
        <p:spPr>
          <a:xfrm>
            <a:off x="1325880" y="3337560"/>
            <a:ext cx="7132320" cy="658368"/>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Your existing SQL Server security stack works. Layer agent-specific controls on top—don't replace what you have.</a:t>
            </a:r>
            <a:endParaRPr lang="en-US" sz="1400" dirty="0"/>
          </a:p>
        </p:txBody>
      </p:sp>
      <p:sp>
        <p:nvSpPr>
          <p:cNvPr id="21" name="Shape 19"/>
          <p:cNvSpPr/>
          <p:nvPr/>
        </p:nvSpPr>
        <p:spPr>
          <a:xfrm>
            <a:off x="548640" y="411480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20"/>
          <p:cNvSpPr/>
          <p:nvPr/>
        </p:nvSpPr>
        <p:spPr>
          <a:xfrm>
            <a:off x="548640" y="4114800"/>
            <a:ext cx="594360" cy="658368"/>
          </a:xfrm>
          <a:prstGeom prst="rect">
            <a:avLst/>
          </a:prstGeom>
          <a:solidFill>
            <a:srgbClr val="E85D24"/>
          </a:solidFill>
          <a:ln/>
        </p:spPr>
      </p:sp>
      <p:sp>
        <p:nvSpPr>
          <p:cNvPr id="23" name="Text 21"/>
          <p:cNvSpPr/>
          <p:nvPr/>
        </p:nvSpPr>
        <p:spPr>
          <a:xfrm>
            <a:off x="548640" y="4114800"/>
            <a:ext cx="594360" cy="658368"/>
          </a:xfrm>
          <a:prstGeom prst="rect">
            <a:avLst/>
          </a:prstGeom>
          <a:noFill/>
          <a:ln/>
        </p:spPr>
        <p:txBody>
          <a:bodyPr wrap="square" rtlCol="0" anchor="ctr"/>
          <a:lstStyle/>
          <a:p>
            <a:pPr algn="ctr" indent="0" marL="0">
              <a:buNone/>
            </a:pPr>
            <a:r>
              <a:rPr lang="en-US" sz="2200" b="1" dirty="0">
                <a:solidFill>
                  <a:srgbClr val="FFFFFF"/>
                </a:solidFill>
                <a:latin typeface="Inter" pitchFamily="34" charset="0"/>
                <a:ea typeface="Inter" pitchFamily="34" charset="-122"/>
                <a:cs typeface="Inter" pitchFamily="34" charset="-120"/>
              </a:rPr>
              <a:t>5</a:t>
            </a:r>
            <a:endParaRPr lang="en-US" sz="2200" dirty="0"/>
          </a:p>
        </p:txBody>
      </p:sp>
      <p:sp>
        <p:nvSpPr>
          <p:cNvPr id="24" name="Text 22"/>
          <p:cNvSpPr/>
          <p:nvPr/>
        </p:nvSpPr>
        <p:spPr>
          <a:xfrm>
            <a:off x="1325880" y="4114800"/>
            <a:ext cx="7132320" cy="658368"/>
          </a:xfrm>
          <a:prstGeom prst="rect">
            <a:avLst/>
          </a:prstGeom>
          <a:noFill/>
          <a:ln/>
        </p:spPr>
        <p:txBody>
          <a:bodyPr wrap="square" lIns="0" tIns="0" rIns="0" bIns="0" rtlCol="0" anchor="ctr"/>
          <a:lstStyle/>
          <a:p>
            <a:pPr indent="0" marL="0">
              <a:buNone/>
            </a:pPr>
            <a:r>
              <a:rPr lang="en-US" sz="1400" dirty="0">
                <a:solidFill>
                  <a:srgbClr val="0D2B4E"/>
                </a:solidFill>
                <a:latin typeface="Nunito Sans" pitchFamily="34" charset="0"/>
                <a:ea typeface="Nunito Sans" pitchFamily="34" charset="-122"/>
                <a:cs typeface="Nunito Sans" pitchFamily="34" charset="-120"/>
              </a:rPr>
              <a:t>The DBA role gets more valuable, not less. You are the person who keeps agents safe and compliant.</a:t>
            </a:r>
            <a:endParaRPr lang="en-US" sz="1400" dirty="0"/>
          </a:p>
        </p:txBody>
      </p:sp>
      <p:sp>
        <p:nvSpPr>
          <p:cNvPr id="25" name="Text 23"/>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26 / 27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1D3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5D24"/>
          </a:solidFill>
          <a:ln/>
        </p:spPr>
      </p:sp>
      <p:sp>
        <p:nvSpPr>
          <p:cNvPr id="3" name="Text 1"/>
          <p:cNvSpPr/>
          <p:nvPr/>
        </p:nvSpPr>
        <p:spPr>
          <a:xfrm>
            <a:off x="731520" y="548640"/>
            <a:ext cx="7132320" cy="2011680"/>
          </a:xfrm>
          <a:prstGeom prst="rect">
            <a:avLst/>
          </a:prstGeom>
          <a:noFill/>
          <a:ln/>
        </p:spPr>
        <p:txBody>
          <a:bodyPr wrap="square" rtlCol="0" anchor="ctr"/>
          <a:lstStyle/>
          <a:p>
            <a:pPr indent="0" marL="0">
              <a:lnSpc>
                <a:spcPct val="130000"/>
              </a:lnSpc>
              <a:buNone/>
            </a:pPr>
            <a:r>
              <a:rPr lang="en-US" sz="3000" b="1" i="1" dirty="0">
                <a:solidFill>
                  <a:srgbClr val="FFFFFF"/>
                </a:solidFill>
                <a:latin typeface="Inter" pitchFamily="34" charset="0"/>
                <a:ea typeface="Inter" pitchFamily="34" charset="-122"/>
                <a:cs typeface="Inter" pitchFamily="34" charset="-120"/>
              </a:rPr>
              <a:t>The agents are coming.</a:t>
            </a:r>
            <a:endParaRPr lang="en-US" sz="3000" dirty="0"/>
          </a:p>
          <a:p>
            <a:pPr indent="0" marL="0">
              <a:lnSpc>
                <a:spcPct val="130000"/>
              </a:lnSpc>
              <a:buNone/>
            </a:pPr>
            <a:r>
              <a:rPr lang="en-US" sz="3000" b="1" i="1" dirty="0">
                <a:solidFill>
                  <a:srgbClr val="FFFFFF"/>
                </a:solidFill>
                <a:latin typeface="Inter" pitchFamily="34" charset="0"/>
                <a:ea typeface="Inter" pitchFamily="34" charset="-122"/>
                <a:cs typeface="Inter" pitchFamily="34" charset="-120"/>
              </a:rPr>
              <a:t>The DBA who understands them</a:t>
            </a:r>
            <a:endParaRPr lang="en-US" sz="3000" dirty="0"/>
          </a:p>
          <a:p>
            <a:pPr indent="0" marL="0">
              <a:lnSpc>
                <a:spcPct val="130000"/>
              </a:lnSpc>
              <a:buNone/>
            </a:pPr>
            <a:r>
              <a:rPr lang="en-US" sz="3000" b="1" i="1" dirty="0">
                <a:solidFill>
                  <a:srgbClr val="FFFFFF"/>
                </a:solidFill>
                <a:latin typeface="Inter" pitchFamily="34" charset="0"/>
                <a:ea typeface="Inter" pitchFamily="34" charset="-122"/>
                <a:cs typeface="Inter" pitchFamily="34" charset="-120"/>
              </a:rPr>
              <a:t>becomes indispensable.</a:t>
            </a:r>
            <a:endParaRPr lang="en-US" sz="3000" dirty="0"/>
          </a:p>
        </p:txBody>
      </p:sp>
      <p:sp>
        <p:nvSpPr>
          <p:cNvPr id="4" name="Shape 2"/>
          <p:cNvSpPr/>
          <p:nvPr/>
        </p:nvSpPr>
        <p:spPr>
          <a:xfrm>
            <a:off x="731520" y="2743200"/>
            <a:ext cx="1828800" cy="36576"/>
          </a:xfrm>
          <a:prstGeom prst="rect">
            <a:avLst/>
          </a:prstGeom>
          <a:solidFill>
            <a:srgbClr val="E85D24"/>
          </a:solidFill>
          <a:ln/>
        </p:spPr>
      </p:sp>
      <p:sp>
        <p:nvSpPr>
          <p:cNvPr id="5" name="Text 3"/>
          <p:cNvSpPr/>
          <p:nvPr/>
        </p:nvSpPr>
        <p:spPr>
          <a:xfrm>
            <a:off x="731520" y="2926080"/>
            <a:ext cx="6949440" cy="640080"/>
          </a:xfrm>
          <a:prstGeom prst="rect">
            <a:avLst/>
          </a:prstGeom>
          <a:noFill/>
          <a:ln/>
        </p:spPr>
        <p:txBody>
          <a:bodyPr wrap="square" rtlCol="0" anchor="ctr"/>
          <a:lstStyle/>
          <a:p>
            <a:pPr indent="0" marL="0">
              <a:buNone/>
            </a:pPr>
            <a:r>
              <a:rPr lang="en-US" sz="3600" b="1" dirty="0">
                <a:solidFill>
                  <a:srgbClr val="3D8ADE"/>
                </a:solidFill>
                <a:latin typeface="Inter" pitchFamily="34" charset="0"/>
                <a:ea typeface="Inter" pitchFamily="34" charset="-122"/>
                <a:cs typeface="Inter" pitchFamily="34" charset="-120"/>
              </a:rPr>
              <a:t>Thank you!</a:t>
            </a:r>
            <a:endParaRPr lang="en-US" sz="3600" dirty="0"/>
          </a:p>
        </p:txBody>
      </p:sp>
      <p:sp>
        <p:nvSpPr>
          <p:cNvPr id="6" name="Text 4"/>
          <p:cNvSpPr/>
          <p:nvPr/>
        </p:nvSpPr>
        <p:spPr>
          <a:xfrm>
            <a:off x="731520" y="3566160"/>
            <a:ext cx="6949440" cy="457200"/>
          </a:xfrm>
          <a:prstGeom prst="rect">
            <a:avLst/>
          </a:prstGeom>
          <a:noFill/>
          <a:ln/>
        </p:spPr>
        <p:txBody>
          <a:bodyPr wrap="square" rtlCol="0" anchor="ctr"/>
          <a:lstStyle/>
          <a:p>
            <a:pPr indent="0" marL="0">
              <a:buNone/>
            </a:pPr>
            <a:r>
              <a:rPr lang="en-US" sz="2000" dirty="0">
                <a:solidFill>
                  <a:srgbClr val="C8D6E5"/>
                </a:solidFill>
                <a:latin typeface="Nunito Sans" pitchFamily="34" charset="0"/>
                <a:ea typeface="Nunito Sans" pitchFamily="34" charset="-122"/>
                <a:cs typeface="Nunito Sans" pitchFamily="34" charset="-120"/>
              </a:rPr>
              <a:t>Questions?</a:t>
            </a:r>
            <a:endParaRPr lang="en-US" sz="2000" dirty="0"/>
          </a:p>
        </p:txBody>
      </p:sp>
      <p:pic>
        <p:nvPicPr>
          <p:cNvPr id="7" name="Image 0" descr="/home/claude/bird-logo.png">    </p:cNvPr>
          <p:cNvPicPr>
            <a:picLocks noChangeAspect="1"/>
          </p:cNvPicPr>
          <p:nvPr/>
        </p:nvPicPr>
        <p:blipFill>
          <a:blip r:embed="rId1"/>
          <a:stretch>
            <a:fillRect/>
          </a:stretch>
        </p:blipFill>
        <p:spPr>
          <a:xfrm>
            <a:off x="7863840" y="3840480"/>
            <a:ext cx="640080" cy="694944"/>
          </a:xfrm>
          <a:prstGeom prst="rect">
            <a:avLst/>
          </a:prstGeom>
        </p:spPr>
      </p:pic>
      <p:sp>
        <p:nvSpPr>
          <p:cNvPr id="8" name="Text 5"/>
          <p:cNvSpPr/>
          <p:nvPr/>
        </p:nvSpPr>
        <p:spPr>
          <a:xfrm>
            <a:off x="8229600" y="4754880"/>
            <a:ext cx="731520" cy="274320"/>
          </a:xfrm>
          <a:prstGeom prst="rect">
            <a:avLst/>
          </a:prstGeom>
          <a:noFill/>
          <a:ln/>
        </p:spPr>
        <p:txBody>
          <a:bodyPr wrap="square" rtlCol="0" anchor="ctr"/>
          <a:lstStyle/>
          <a:p>
            <a:pPr algn="r" indent="0" marL="0">
              <a:buNone/>
            </a:pPr>
            <a:r>
              <a:rPr lang="en-US" sz="1000" dirty="0">
                <a:solidFill>
                  <a:srgbClr val="8B9BB5"/>
                </a:solidFill>
                <a:latin typeface="Nunito Sans" pitchFamily="34" charset="0"/>
                <a:ea typeface="Nunito Sans" pitchFamily="34" charset="-122"/>
                <a:cs typeface="Nunito Sans" pitchFamily="34" charset="-120"/>
              </a:rPr>
              <a:t>27 / 27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DBA to AI Agent Wrangler</dc:title>
  <dc:subject>PptxGenJS Presentation</dc:subject>
  <dc:creator>Kovoco</dc:creator>
  <cp:lastModifiedBy>Kovoco</cp:lastModifiedBy>
  <cp:revision>1</cp:revision>
  <dcterms:created xsi:type="dcterms:W3CDTF">2026-04-10T15:44:56Z</dcterms:created>
  <dcterms:modified xsi:type="dcterms:W3CDTF">2026-04-10T15:44:56Z</dcterms:modified>
</cp:coreProperties>
</file>